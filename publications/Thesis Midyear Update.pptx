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20"/>
  </p:notesMasterIdLst>
  <p:sldIdLst>
    <p:sldId id="256" r:id="rId2"/>
    <p:sldId id="288" r:id="rId3"/>
    <p:sldId id="285" r:id="rId4"/>
    <p:sldId id="289" r:id="rId5"/>
    <p:sldId id="263" r:id="rId6"/>
    <p:sldId id="262" r:id="rId7"/>
    <p:sldId id="271" r:id="rId8"/>
    <p:sldId id="257" r:id="rId9"/>
    <p:sldId id="268" r:id="rId10"/>
    <p:sldId id="267" r:id="rId11"/>
    <p:sldId id="280" r:id="rId12"/>
    <p:sldId id="278" r:id="rId13"/>
    <p:sldId id="277" r:id="rId14"/>
    <p:sldId id="284" r:id="rId15"/>
    <p:sldId id="281" r:id="rId16"/>
    <p:sldId id="282" r:id="rId17"/>
    <p:sldId id="286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D9209-8876-4635-8B39-3799AC1F6BE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178D9-4C0C-43AF-A99E-B52876AA6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6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178D9-4C0C-43AF-A99E-B52876AA63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2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178D9-4C0C-43AF-A99E-B52876AA63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47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0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48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8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2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2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5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1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68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6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46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8244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1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28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91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23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28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4876D-62F8-435D-BA2C-F87689DFE839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9CA29-28DC-41F5-A4BE-4036FAA6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085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287B-7950-9121-7306-DF40AEB1C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141467"/>
            <a:ext cx="9448800" cy="2487034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Cooling with Thick Wedges for a Muon Collider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55EFCA-48CD-AF90-4B02-C71592ED6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553490"/>
          </a:xfrm>
        </p:spPr>
        <p:txBody>
          <a:bodyPr>
            <a:normAutofit/>
          </a:bodyPr>
          <a:lstStyle/>
          <a:p>
            <a:r>
              <a:rPr lang="en-US" dirty="0"/>
              <a:t>Bachelor’s Thesis Progress Report, 3/5/2025</a:t>
            </a:r>
          </a:p>
          <a:p>
            <a:r>
              <a:rPr lang="en-US" dirty="0"/>
              <a:t>Daniel Fu</a:t>
            </a:r>
          </a:p>
          <a:p>
            <a:r>
              <a:rPr lang="en-US" dirty="0"/>
              <a:t>Faculty Advisor: Dr. Karri </a:t>
            </a:r>
            <a:r>
              <a:rPr lang="en-US" dirty="0" err="1"/>
              <a:t>DiPetrillo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0824-189F-35AD-C0DF-04FE89D0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Muon Collider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FDE-262E-E2F4-1355-3D3C28F30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muon collider </a:t>
            </a:r>
            <a:r>
              <a:rPr lang="en-US" dirty="0"/>
              <a:t>presents significant advantages for high-energy collider research over conventional proton or electron colliders</a:t>
            </a:r>
          </a:p>
          <a:p>
            <a:pPr lvl="1"/>
            <a:r>
              <a:rPr lang="en-US" dirty="0"/>
              <a:t>Muons are elementary particles </a:t>
            </a:r>
            <a:r>
              <a:rPr lang="en-US" dirty="0">
                <a:sym typeface="Wingdings" panose="05000000000000000000" pitchFamily="2" charset="2"/>
              </a:rPr>
              <a:t> whole energy of collision used in interaction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Muons are more massive than electrons  synchrotron radiation losses minimal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As a lepton collider, it can perform precision measurements</a:t>
            </a:r>
            <a:endParaRPr lang="en-US" dirty="0"/>
          </a:p>
          <a:p>
            <a:r>
              <a:rPr lang="en-US" dirty="0"/>
              <a:t>Potential to explore new physics (at the 10 TeV+ scale) in a smaller footprint and lower cost</a:t>
            </a:r>
          </a:p>
        </p:txBody>
      </p:sp>
    </p:spTree>
    <p:extLst>
      <p:ext uri="{BB962C8B-B14F-4D97-AF65-F5344CB8AC3E}">
        <p14:creationId xmlns:p14="http://schemas.microsoft.com/office/powerpoint/2010/main" val="117199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map of a city&#10;&#10;Description automatically generated">
            <a:extLst>
              <a:ext uri="{FF2B5EF4-FFF2-40B4-BE49-F238E27FC236}">
                <a16:creationId xmlns:a16="http://schemas.microsoft.com/office/drawing/2014/main" id="{6E277EAF-8EE8-B94F-3878-7B1E489526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0"/>
          <a:stretch/>
        </p:blipFill>
        <p:spPr>
          <a:xfrm>
            <a:off x="2547854" y="1238588"/>
            <a:ext cx="7096291" cy="507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27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BDD3-F78D-94E7-8AC5-472774ED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Cooling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531DA-B925-4EF3-BF95-AF82D5144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 challenge: </a:t>
            </a:r>
            <a:r>
              <a:rPr lang="en-US" b="1" dirty="0"/>
              <a:t>emittance</a:t>
            </a:r>
            <a:r>
              <a:rPr lang="en-US" dirty="0"/>
              <a:t> (position/momentum spread) of muons must be reduced prior to acceleration (</a:t>
            </a:r>
            <a:r>
              <a:rPr lang="en-US" b="1" dirty="0"/>
              <a:t>cooling</a:t>
            </a:r>
            <a:r>
              <a:rPr lang="en-US" dirty="0"/>
              <a:t>)</a:t>
            </a:r>
          </a:p>
          <a:p>
            <a:r>
              <a:rPr lang="en-US" dirty="0"/>
              <a:t>In the final cooling step, transverse emittance is reduced while longitudinal emittance is allowed to grow (</a:t>
            </a:r>
            <a:r>
              <a:rPr lang="en-US" b="1" dirty="0"/>
              <a:t>emittance exchange</a:t>
            </a:r>
            <a:r>
              <a:rPr lang="en-US" dirty="0"/>
              <a:t>)</a:t>
            </a:r>
          </a:p>
          <a:p>
            <a:r>
              <a:rPr lang="en-US" dirty="0"/>
              <a:t>Exploring a </a:t>
            </a:r>
            <a:r>
              <a:rPr lang="en-US" b="1" dirty="0"/>
              <a:t>wedge-based method </a:t>
            </a:r>
            <a:r>
              <a:rPr lang="en-US" dirty="0"/>
              <a:t>for achieving emittance exchange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DB9849C-82B4-D5F9-A7DF-5C09D3157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505" y="4272457"/>
            <a:ext cx="9282989" cy="235747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3EEEE4FD-CA0C-3AF2-B594-87D44DA6BA18}"/>
              </a:ext>
            </a:extLst>
          </p:cNvPr>
          <p:cNvSpPr/>
          <p:nvPr/>
        </p:nvSpPr>
        <p:spPr>
          <a:xfrm>
            <a:off x="6532473" y="4126155"/>
            <a:ext cx="424282" cy="7461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87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9281-CB01-09E2-2565-CCED382D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Muon cooling channel</a:t>
            </a:r>
          </a:p>
        </p:txBody>
      </p:sp>
      <p:pic>
        <p:nvPicPr>
          <p:cNvPr id="4" name="Picture 3" descr="A diagram of a diagram of a device&#10;&#10;AI-generated content may be incorrect.">
            <a:extLst>
              <a:ext uri="{FF2B5EF4-FFF2-40B4-BE49-F238E27FC236}">
                <a16:creationId xmlns:a16="http://schemas.microsoft.com/office/drawing/2014/main" id="{2A108908-3770-222F-FBC6-F1F034BE2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72" y="1994820"/>
            <a:ext cx="10007056" cy="2805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6EC432-1E5E-E818-4714-EFAB32D09095}"/>
              </a:ext>
            </a:extLst>
          </p:cNvPr>
          <p:cNvSpPr txBox="1"/>
          <p:nvPr/>
        </p:nvSpPr>
        <p:spPr>
          <a:xfrm>
            <a:off x="564697" y="5566180"/>
            <a:ext cx="380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2023, I modelled the wedge and RF cavity in G4Beamline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E2740-734A-FF3B-4FD2-C6DE7749B8B4}"/>
              </a:ext>
            </a:extLst>
          </p:cNvPr>
          <p:cNvSpPr txBox="1"/>
          <p:nvPr/>
        </p:nvSpPr>
        <p:spPr>
          <a:xfrm>
            <a:off x="4528120" y="5570034"/>
            <a:ext cx="4137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2024, Ryan Michaud modelled the drift channel in MAD-X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502582-AE0E-4FC6-A625-AADE3229471B}"/>
              </a:ext>
            </a:extLst>
          </p:cNvPr>
          <p:cNvCxnSpPr>
            <a:cxnSpLocks/>
          </p:cNvCxnSpPr>
          <p:nvPr/>
        </p:nvCxnSpPr>
        <p:spPr>
          <a:xfrm flipV="1">
            <a:off x="1969949" y="4160827"/>
            <a:ext cx="0" cy="13562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F9D31B-1723-21A8-8CBF-0D7F935BA0CD}"/>
              </a:ext>
            </a:extLst>
          </p:cNvPr>
          <p:cNvCxnSpPr>
            <a:cxnSpLocks/>
          </p:cNvCxnSpPr>
          <p:nvPr/>
        </p:nvCxnSpPr>
        <p:spPr>
          <a:xfrm flipV="1">
            <a:off x="3338481" y="4160827"/>
            <a:ext cx="3093004" cy="13010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F86F93-1F37-5DF6-59C0-02B4E8AF2E8E}"/>
              </a:ext>
            </a:extLst>
          </p:cNvPr>
          <p:cNvCxnSpPr>
            <a:cxnSpLocks/>
          </p:cNvCxnSpPr>
          <p:nvPr/>
        </p:nvCxnSpPr>
        <p:spPr>
          <a:xfrm flipV="1">
            <a:off x="5326840" y="3964446"/>
            <a:ext cx="0" cy="1552639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94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38B4A-D94B-B3F4-7945-930B90EAB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Background: Emittance and Courant–Snyder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2C60E-A4CF-EECE-DFFA-EFAD10758E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Describe particle distribution in position-momentum (phase) space</a:t>
            </a:r>
          </a:p>
          <a:p>
            <a:r>
              <a:rPr lang="en-US" b="1" dirty="0"/>
              <a:t>Emittance</a:t>
            </a:r>
            <a:r>
              <a:rPr lang="en-US" dirty="0"/>
              <a:t> measures the size of the distribution</a:t>
            </a:r>
          </a:p>
          <a:p>
            <a:r>
              <a:rPr lang="el-GR" b="1" dirty="0"/>
              <a:t>β</a:t>
            </a:r>
            <a:r>
              <a:rPr lang="en-US" b="1" dirty="0"/>
              <a:t> (beta) </a:t>
            </a:r>
            <a:r>
              <a:rPr lang="en-US" dirty="0"/>
              <a:t>measures the physical size of the beam</a:t>
            </a:r>
          </a:p>
          <a:p>
            <a:r>
              <a:rPr lang="el-GR" b="1" dirty="0"/>
              <a:t>α</a:t>
            </a:r>
            <a:r>
              <a:rPr lang="en-US" b="1" dirty="0"/>
              <a:t> (alpha)</a:t>
            </a:r>
            <a:r>
              <a:rPr lang="en-US" dirty="0"/>
              <a:t> indicates whether the beam is converging or diverging</a:t>
            </a:r>
          </a:p>
          <a:p>
            <a:r>
              <a:rPr lang="en-US" dirty="0"/>
              <a:t>Measured on each axis</a:t>
            </a:r>
          </a:p>
          <a:p>
            <a:r>
              <a:rPr lang="en-US" dirty="0"/>
              <a:t>Also known as Twiss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FBCC8-F3FD-FCC0-DA7E-90C862212D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2200" y="2370695"/>
            <a:ext cx="5334000" cy="3670772"/>
          </a:xfrm>
        </p:spPr>
      </p:pic>
    </p:spTree>
    <p:extLst>
      <p:ext uri="{BB962C8B-B14F-4D97-AF65-F5344CB8AC3E}">
        <p14:creationId xmlns:p14="http://schemas.microsoft.com/office/powerpoint/2010/main" val="280497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5C5F-0826-0478-BA1D-3C3156C0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Wedge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21EB-942A-CFA1-1E12-872DA861F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Performed simulations to characterize effect of beta and alpha on wedge performance</a:t>
            </a:r>
          </a:p>
          <a:p>
            <a:r>
              <a:rPr lang="en-US" dirty="0"/>
              <a:t>Varied beta while optimizing wedge length, wedge half-angle, and beam alpha at each point</a:t>
            </a:r>
          </a:p>
          <a:p>
            <a:r>
              <a:rPr lang="en-US" dirty="0"/>
              <a:t>Repeated trials to account for stochastic effects</a:t>
            </a:r>
          </a:p>
          <a:p>
            <a:r>
              <a:rPr lang="en-US" b="1" dirty="0"/>
              <a:t>Minimum emittance attained at beta of around 0.025 mm</a:t>
            </a:r>
          </a:p>
        </p:txBody>
      </p:sp>
      <p:pic>
        <p:nvPicPr>
          <p:cNvPr id="7" name="Content Placeholder 6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4144C66E-F169-3994-FF0C-71404E9D25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05832"/>
            <a:ext cx="5334000" cy="4000499"/>
          </a:xfrm>
        </p:spPr>
      </p:pic>
    </p:spTree>
    <p:extLst>
      <p:ext uri="{BB962C8B-B14F-4D97-AF65-F5344CB8AC3E}">
        <p14:creationId xmlns:p14="http://schemas.microsoft.com/office/powerpoint/2010/main" val="176842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D171-CCA4-FC29-54FB-5DC4FB78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52A7D-85E4-D0B9-211F-D4F3EC1CE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Transports beam to allow faster muons to outpace slower muons</a:t>
            </a:r>
          </a:p>
          <a:p>
            <a:r>
              <a:rPr lang="en-US" dirty="0"/>
              <a:t>Quadrupoles focus beam in one axis and defocus in another</a:t>
            </a:r>
          </a:p>
          <a:p>
            <a:r>
              <a:rPr lang="en-US" dirty="0"/>
              <a:t>Alternating quadrupoles achieve focusing in both axes</a:t>
            </a:r>
          </a:p>
          <a:p>
            <a:r>
              <a:rPr lang="en-US" dirty="0"/>
              <a:t>Called a </a:t>
            </a:r>
            <a:r>
              <a:rPr lang="en-US" b="1" dirty="0"/>
              <a:t>FODO</a:t>
            </a:r>
            <a:r>
              <a:rPr lang="en-US" dirty="0"/>
              <a:t> (focus-open-defocus-open) array</a:t>
            </a:r>
          </a:p>
          <a:p>
            <a:r>
              <a:rPr lang="en-US" dirty="0"/>
              <a:t>Each repeating cell should be periodic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light bulb&#10;&#10;AI-generated content may be incorrect.">
            <a:extLst>
              <a:ext uri="{FF2B5EF4-FFF2-40B4-BE49-F238E27FC236}">
                <a16:creationId xmlns:a16="http://schemas.microsoft.com/office/drawing/2014/main" id="{83CF0567-3F0F-C58D-4D9F-0256CFE76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693" y="3571103"/>
            <a:ext cx="2868146" cy="2708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ECF6D-9B73-FFEB-C171-A1372A3DF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47"/>
          <a:stretch/>
        </p:blipFill>
        <p:spPr>
          <a:xfrm>
            <a:off x="341027" y="4619106"/>
            <a:ext cx="8023812" cy="1374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42F806-FDE4-D021-5045-83F5FBAE4DFA}"/>
              </a:ext>
            </a:extLst>
          </p:cNvPr>
          <p:cNvSpPr txBox="1"/>
          <p:nvPr/>
        </p:nvSpPr>
        <p:spPr>
          <a:xfrm>
            <a:off x="8643543" y="3231782"/>
            <a:ext cx="2862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Diagram of a quadrupole magnet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A3A4A-E5E3-3E9E-E0BD-C3A5591ADB20}"/>
              </a:ext>
            </a:extLst>
          </p:cNvPr>
          <p:cNvSpPr txBox="1"/>
          <p:nvPr/>
        </p:nvSpPr>
        <p:spPr>
          <a:xfrm>
            <a:off x="3242693" y="4558195"/>
            <a:ext cx="2220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Model of a FODO array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E71A00B-357B-18D1-281B-32BB27A606F7}"/>
              </a:ext>
            </a:extLst>
          </p:cNvPr>
          <p:cNvSpPr/>
          <p:nvPr/>
        </p:nvSpPr>
        <p:spPr>
          <a:xfrm rot="5400000">
            <a:off x="1382802" y="5044830"/>
            <a:ext cx="309626" cy="1708910"/>
          </a:xfrm>
          <a:prstGeom prst="rightBrace">
            <a:avLst>
              <a:gd name="adj1" fmla="val 56040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DF56F0E-6396-3A3C-B160-3E995A2DE789}"/>
              </a:ext>
            </a:extLst>
          </p:cNvPr>
          <p:cNvSpPr/>
          <p:nvPr/>
        </p:nvSpPr>
        <p:spPr>
          <a:xfrm rot="5400000">
            <a:off x="3159176" y="5044830"/>
            <a:ext cx="309626" cy="1708910"/>
          </a:xfrm>
          <a:prstGeom prst="rightBrace">
            <a:avLst>
              <a:gd name="adj1" fmla="val 56040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FD9F1-DDCD-6C62-CA60-92B6731CEC72}"/>
              </a:ext>
            </a:extLst>
          </p:cNvPr>
          <p:cNvSpPr txBox="1"/>
          <p:nvPr/>
        </p:nvSpPr>
        <p:spPr>
          <a:xfrm>
            <a:off x="629007" y="6057704"/>
            <a:ext cx="1887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Beam converging in x,</a:t>
            </a:r>
            <a:br>
              <a:rPr lang="en-US" sz="1200" dirty="0"/>
            </a:br>
            <a:r>
              <a:rPr lang="en-US" sz="1200" dirty="0"/>
              <a:t>diverging in 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8639B-7A15-EF52-B1F3-2B7D19528336}"/>
              </a:ext>
            </a:extLst>
          </p:cNvPr>
          <p:cNvSpPr txBox="1"/>
          <p:nvPr/>
        </p:nvSpPr>
        <p:spPr>
          <a:xfrm>
            <a:off x="2459534" y="6070146"/>
            <a:ext cx="170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Beam diverging in x, converging in y</a:t>
            </a:r>
          </a:p>
        </p:txBody>
      </p:sp>
    </p:spTree>
    <p:extLst>
      <p:ext uri="{BB962C8B-B14F-4D97-AF65-F5344CB8AC3E}">
        <p14:creationId xmlns:p14="http://schemas.microsoft.com/office/powerpoint/2010/main" val="408792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2711-1CCC-E0FF-EB48-9327A291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channel</a:t>
            </a:r>
          </a:p>
        </p:txBody>
      </p:sp>
      <p:pic>
        <p:nvPicPr>
          <p:cNvPr id="5" name="Content Placeholder 4" descr="A group of rings in red and green&#10;&#10;AI-generated content may be incorrect.">
            <a:extLst>
              <a:ext uri="{FF2B5EF4-FFF2-40B4-BE49-F238E27FC236}">
                <a16:creationId xmlns:a16="http://schemas.microsoft.com/office/drawing/2014/main" id="{B7EF437E-BCDA-2A46-3569-5284F1BAD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64" y="1917485"/>
            <a:ext cx="9837471" cy="4563122"/>
          </a:xfrm>
        </p:spPr>
      </p:pic>
    </p:spTree>
    <p:extLst>
      <p:ext uri="{BB962C8B-B14F-4D97-AF65-F5344CB8AC3E}">
        <p14:creationId xmlns:p14="http://schemas.microsoft.com/office/powerpoint/2010/main" val="54425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7249-051B-DFAB-FE14-A407CFCD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MAD-X and G4Beamline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9DD07-375F-A3B4-DDF3-7602ADA38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G4Beamline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11750-7689-F8C3-AC56-E79EE023D5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Tracks single particles</a:t>
            </a:r>
          </a:p>
          <a:p>
            <a:r>
              <a:rPr lang="en-US" dirty="0"/>
              <a:t>Considers momentum spread</a:t>
            </a:r>
          </a:p>
          <a:p>
            <a:r>
              <a:rPr lang="en-US" dirty="0"/>
              <a:t>Simulates magnetic fields in detail</a:t>
            </a:r>
          </a:p>
          <a:p>
            <a:r>
              <a:rPr lang="en-US" dirty="0"/>
              <a:t>Not easy to perform optimization</a:t>
            </a:r>
          </a:p>
          <a:p>
            <a:r>
              <a:rPr lang="en-US" dirty="0"/>
              <a:t>Magnet strength measured in B field gradients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D9BE7-1F30-024E-B17A-22A98756B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MAD-X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D1AFC-C6DC-E5B4-9632-6DB81E0C329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Tracks distributions of particles</a:t>
            </a:r>
          </a:p>
          <a:p>
            <a:r>
              <a:rPr lang="en-US" dirty="0"/>
              <a:t>Only beta/alpha considered</a:t>
            </a:r>
          </a:p>
          <a:p>
            <a:r>
              <a:rPr lang="en-US" dirty="0"/>
              <a:t>Makes approximations for magnets</a:t>
            </a:r>
          </a:p>
          <a:p>
            <a:r>
              <a:rPr lang="en-US" dirty="0"/>
              <a:t>Fast optimization for magnets</a:t>
            </a:r>
          </a:p>
          <a:p>
            <a:r>
              <a:rPr lang="en-US" dirty="0"/>
              <a:t>Magnet strength described by quadrupole coefficient</a:t>
            </a:r>
          </a:p>
        </p:txBody>
      </p:sp>
    </p:spTree>
    <p:extLst>
      <p:ext uri="{BB962C8B-B14F-4D97-AF65-F5344CB8AC3E}">
        <p14:creationId xmlns:p14="http://schemas.microsoft.com/office/powerpoint/2010/main" val="206540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A4D67-4DBF-AEA8-1737-87B80BD8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Drift channel in G4Beamline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2BB5E-4686-B5B6-95D7-C113C6E47B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Translated design of periodic FODO cell from MAD-X to G4Beamline</a:t>
            </a:r>
          </a:p>
          <a:p>
            <a:r>
              <a:rPr lang="en-US" dirty="0"/>
              <a:t>Converted quadrupole coefficients to B field gradients</a:t>
            </a:r>
          </a:p>
          <a:p>
            <a:r>
              <a:rPr lang="en-US" dirty="0"/>
              <a:t>Found discrepancies between MAD-X and G4Beamline results</a:t>
            </a:r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3744F94F-69BB-ADA8-953A-5F346F81D3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05" y="2193925"/>
            <a:ext cx="5030390" cy="4024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C63FDF-A27C-472B-90AB-55913042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07" y="4645753"/>
            <a:ext cx="3213265" cy="144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47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0E1A-8848-65E0-2190-4EB80126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FODO cell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2F93-D98A-0A7E-EC06-33D867F1D3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MAD-X, FODO cell has half a focusing quad at the start and end</a:t>
            </a:r>
          </a:p>
          <a:p>
            <a:r>
              <a:rPr lang="en-US" dirty="0"/>
              <a:t>MAD-X does not account for fringe fields, but G4Beamline does</a:t>
            </a:r>
          </a:p>
          <a:p>
            <a:r>
              <a:rPr lang="en-US" dirty="0"/>
              <a:t>Using full edge quads in G4Beamline produced better results</a:t>
            </a:r>
          </a:p>
          <a:p>
            <a:r>
              <a:rPr lang="en-US" dirty="0"/>
              <a:t>However, models still do not match</a:t>
            </a:r>
          </a:p>
          <a:p>
            <a:endParaRPr lang="en-US" dirty="0"/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CDACD65D-ACA0-E7CC-088B-3FE84B7D4D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05" y="2193925"/>
            <a:ext cx="5030390" cy="4024313"/>
          </a:xfrm>
          <a:prstGeom prst="rect">
            <a:avLst/>
          </a:prstGeom>
        </p:spPr>
      </p:pic>
      <p:pic>
        <p:nvPicPr>
          <p:cNvPr id="6" name="Content Placeholder 5" descr="A diagram of a system&#10;&#10;AI-generated content may be incorrect.">
            <a:extLst>
              <a:ext uri="{FF2B5EF4-FFF2-40B4-BE49-F238E27FC236}">
                <a16:creationId xmlns:a16="http://schemas.microsoft.com/office/drawing/2014/main" id="{E71CAAD0-5865-226F-13AB-7FF40B48F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4" t="12758" r="9390" b="56384"/>
          <a:stretch/>
        </p:blipFill>
        <p:spPr>
          <a:xfrm>
            <a:off x="3194294" y="5381905"/>
            <a:ext cx="2989664" cy="859333"/>
          </a:xfrm>
          <a:prstGeom prst="rect">
            <a:avLst/>
          </a:prstGeom>
        </p:spPr>
      </p:pic>
      <p:pic>
        <p:nvPicPr>
          <p:cNvPr id="7" name="Content Placeholder 5" descr="A diagram of a system&#10;&#10;AI-generated content may be incorrect.">
            <a:extLst>
              <a:ext uri="{FF2B5EF4-FFF2-40B4-BE49-F238E27FC236}">
                <a16:creationId xmlns:a16="http://schemas.microsoft.com/office/drawing/2014/main" id="{7FDD3F5C-1A0D-4C63-DA33-545E28700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5" t="61812" r="14028" b="7330"/>
          <a:stretch/>
        </p:blipFill>
        <p:spPr>
          <a:xfrm>
            <a:off x="351551" y="5381906"/>
            <a:ext cx="2702697" cy="859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09F36C-2530-0DDE-F46D-0F6A4C390A43}"/>
              </a:ext>
            </a:extLst>
          </p:cNvPr>
          <p:cNvSpPr txBox="1"/>
          <p:nvPr/>
        </p:nvSpPr>
        <p:spPr>
          <a:xfrm>
            <a:off x="789591" y="5036327"/>
            <a:ext cx="4653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Layout of model in MAD-X (left) </a:t>
            </a:r>
            <a:r>
              <a:rPr lang="en-US" sz="1200" dirty="0" err="1"/>
              <a:t>v.s</a:t>
            </a:r>
            <a:r>
              <a:rPr lang="en-US" sz="1200" dirty="0"/>
              <a:t>. G4Beamline (right)</a:t>
            </a:r>
          </a:p>
        </p:txBody>
      </p:sp>
    </p:spTree>
    <p:extLst>
      <p:ext uri="{BB962C8B-B14F-4D97-AF65-F5344CB8AC3E}">
        <p14:creationId xmlns:p14="http://schemas.microsoft.com/office/powerpoint/2010/main" val="3773221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DB3A-6F40-D85C-08F7-F34DEC0A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Magnet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E3DB7-8D76-FC41-694B-4D947D6BD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Ran optimization to minimize difference in beta in G4Beamline</a:t>
            </a:r>
          </a:p>
          <a:p>
            <a:r>
              <a:rPr lang="en-US" dirty="0"/>
              <a:t>Found a slightly lower magnetic field gradient than in MAD-X (5.932 T/m vs. 6.667 T/m)</a:t>
            </a:r>
          </a:p>
          <a:p>
            <a:r>
              <a:rPr lang="en-US" dirty="0"/>
              <a:t>Beta curves match closely but alpha curves differ at some points</a:t>
            </a:r>
          </a:p>
          <a:p>
            <a:r>
              <a:rPr lang="en-US" dirty="0"/>
              <a:t>Unsure why this difference exists</a:t>
            </a:r>
          </a:p>
        </p:txBody>
      </p:sp>
      <p:pic>
        <p:nvPicPr>
          <p:cNvPr id="10" name="Content Placeholder 9" descr="A group of graphs showing different types of food cells&#10;&#10;AI-generated content may be incorrect.">
            <a:extLst>
              <a:ext uri="{FF2B5EF4-FFF2-40B4-BE49-F238E27FC236}">
                <a16:creationId xmlns:a16="http://schemas.microsoft.com/office/drawing/2014/main" id="{2BD76200-E528-74CC-6724-F09A3BFE7C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05" y="2193925"/>
            <a:ext cx="5030390" cy="4024313"/>
          </a:xfrm>
        </p:spPr>
      </p:pic>
    </p:spTree>
    <p:extLst>
      <p:ext uri="{BB962C8B-B14F-4D97-AF65-F5344CB8AC3E}">
        <p14:creationId xmlns:p14="http://schemas.microsoft.com/office/powerpoint/2010/main" val="3668393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5233-6628-875D-304F-A7C91E47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multiple cells</a:t>
            </a:r>
          </a:p>
        </p:txBody>
      </p:sp>
      <p:pic>
        <p:nvPicPr>
          <p:cNvPr id="4" name="Content Placeholder 15" descr="A group of images of a light&#10;&#10;AI-generated content may be incorrect.">
            <a:extLst>
              <a:ext uri="{FF2B5EF4-FFF2-40B4-BE49-F238E27FC236}">
                <a16:creationId xmlns:a16="http://schemas.microsoft.com/office/drawing/2014/main" id="{8E704975-8C11-2CE5-000E-14E4C81EA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17" y="2069314"/>
            <a:ext cx="6254783" cy="416985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FB635-AF36-3C45-4029-9B2A656800B8}"/>
              </a:ext>
            </a:extLst>
          </p:cNvPr>
          <p:cNvSpPr txBox="1"/>
          <p:nvPr/>
        </p:nvSpPr>
        <p:spPr>
          <a:xfrm>
            <a:off x="1968500" y="2745589"/>
            <a:ext cx="2340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Before drift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3F2AB-8AB7-3F21-E3F8-3CE0D8C17658}"/>
              </a:ext>
            </a:extLst>
          </p:cNvPr>
          <p:cNvSpPr txBox="1"/>
          <p:nvPr/>
        </p:nvSpPr>
        <p:spPr>
          <a:xfrm>
            <a:off x="1968500" y="4841089"/>
            <a:ext cx="23407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After drift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CC751C8-F070-A83C-92FE-8D5604C59398}"/>
              </a:ext>
            </a:extLst>
          </p:cNvPr>
          <p:cNvSpPr/>
          <p:nvPr/>
        </p:nvSpPr>
        <p:spPr>
          <a:xfrm>
            <a:off x="2630852" y="3482476"/>
            <a:ext cx="1016000" cy="11784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E58F1-16E6-C0EC-E577-5395C045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CD3DD-AEFF-B5A5-942F-4B91951C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investigating discrepancy between MAD-X and G4Beamline</a:t>
            </a:r>
          </a:p>
          <a:p>
            <a:r>
              <a:rPr lang="en-US" dirty="0"/>
              <a:t>Model magnet assembly around wedge (likely solenoid)</a:t>
            </a:r>
          </a:p>
          <a:p>
            <a:r>
              <a:rPr lang="en-US" dirty="0"/>
              <a:t>Model bending magnets (dipole)</a:t>
            </a:r>
          </a:p>
          <a:p>
            <a:r>
              <a:rPr lang="en-US" dirty="0"/>
              <a:t>(If time permits) model quadrupoles around RF cavity(s)</a:t>
            </a:r>
          </a:p>
        </p:txBody>
      </p:sp>
      <p:pic>
        <p:nvPicPr>
          <p:cNvPr id="5" name="Picture 4" descr="A diagram of a magnetic field&#10;&#10;AI-generated content may be incorrect.">
            <a:extLst>
              <a:ext uri="{FF2B5EF4-FFF2-40B4-BE49-F238E27FC236}">
                <a16:creationId xmlns:a16="http://schemas.microsoft.com/office/drawing/2014/main" id="{1E1D6AF0-D47B-E2D3-9214-D0FBD6DE9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58" y="4167266"/>
            <a:ext cx="2383248" cy="2413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9A0C3C-A5BB-52F3-F59E-1B4AEA7B4E4B}"/>
              </a:ext>
            </a:extLst>
          </p:cNvPr>
          <p:cNvSpPr txBox="1"/>
          <p:nvPr/>
        </p:nvSpPr>
        <p:spPr>
          <a:xfrm>
            <a:off x="3851801" y="4635310"/>
            <a:ext cx="2244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Diagram of a dipole magnet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Right: Magnetic field of a solenoid</a:t>
            </a:r>
          </a:p>
        </p:txBody>
      </p:sp>
      <p:pic>
        <p:nvPicPr>
          <p:cNvPr id="8" name="Picture 7" descr="A diagram of a coil&#10;&#10;AI-generated content may be incorrect.">
            <a:extLst>
              <a:ext uri="{FF2B5EF4-FFF2-40B4-BE49-F238E27FC236}">
                <a16:creationId xmlns:a16="http://schemas.microsoft.com/office/drawing/2014/main" id="{32435D3B-373F-3395-02BD-9BE731518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795" y="4161728"/>
            <a:ext cx="4700875" cy="24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5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FB94-7710-9283-1FB9-1E21C7EE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CF1B9-BC0E-5F90-2C58-9D38AED8F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66501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00B3-BDBB-BA27-9487-C6472999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Wedge mechanism</a:t>
            </a:r>
          </a:p>
        </p:txBody>
      </p:sp>
      <p:pic>
        <p:nvPicPr>
          <p:cNvPr id="4" name="Content Placeholder 4" descr="A yellow circle and purple triangle&#10;&#10;Description automatically generated">
            <a:extLst>
              <a:ext uri="{FF2B5EF4-FFF2-40B4-BE49-F238E27FC236}">
                <a16:creationId xmlns:a16="http://schemas.microsoft.com/office/drawing/2014/main" id="{F83DB845-4138-FD09-BB9D-148E6CC57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75" y="2443956"/>
            <a:ext cx="8477250" cy="35242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9B6B6E-952E-075B-D695-0E8FB6E1B925}"/>
              </a:ext>
            </a:extLst>
          </p:cNvPr>
          <p:cNvSpPr txBox="1"/>
          <p:nvPr/>
        </p:nvSpPr>
        <p:spPr>
          <a:xfrm>
            <a:off x="8044831" y="2119542"/>
            <a:ext cx="3584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Bending magnet deflects particles by amount proportional to momentum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8F4EB-D639-39D7-DEFE-72F556D54DF5}"/>
              </a:ext>
            </a:extLst>
          </p:cNvPr>
          <p:cNvSpPr txBox="1"/>
          <p:nvPr/>
        </p:nvSpPr>
        <p:spPr>
          <a:xfrm>
            <a:off x="7129621" y="5631962"/>
            <a:ext cx="4045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Resulting beam has lower transverse emittance but higher spread in longitudinal momentum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091C8-1EC9-4F15-B1B3-B0E4DBC685C5}"/>
              </a:ext>
            </a:extLst>
          </p:cNvPr>
          <p:cNvSpPr txBox="1"/>
          <p:nvPr/>
        </p:nvSpPr>
        <p:spPr>
          <a:xfrm>
            <a:off x="2895600" y="1982291"/>
            <a:ext cx="3985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Muons encounter varying amounts of wedge material, thus decelerate by different amounts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EB332-6635-9F14-CF0A-3152FA659401}"/>
              </a:ext>
            </a:extLst>
          </p:cNvPr>
          <p:cNvSpPr txBox="1"/>
          <p:nvPr/>
        </p:nvSpPr>
        <p:spPr>
          <a:xfrm>
            <a:off x="815327" y="2581207"/>
            <a:ext cx="2321846" cy="67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Beam enters wedge absorber</a:t>
            </a:r>
          </a:p>
        </p:txBody>
      </p:sp>
    </p:spTree>
    <p:extLst>
      <p:ext uri="{BB962C8B-B14F-4D97-AF65-F5344CB8AC3E}">
        <p14:creationId xmlns:p14="http://schemas.microsoft.com/office/powerpoint/2010/main" val="383315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E0D74-B6E7-F28B-09BE-FFC73CAA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Rotation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41A4E-31D7-6DEC-A883-D99D04E6B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Particles travel through drift channel – correlation between z and </a:t>
            </a:r>
            <a:r>
              <a:rPr lang="en-US" dirty="0" err="1"/>
              <a:t>Pz</a:t>
            </a:r>
            <a:endParaRPr lang="en-US" dirty="0"/>
          </a:p>
          <a:p>
            <a:r>
              <a:rPr lang="en-US" dirty="0"/>
              <a:t>RF cavity applies time-varying E-field – decelerates faster muons and accelerates slower muons</a:t>
            </a:r>
          </a:p>
          <a:p>
            <a:r>
              <a:rPr lang="en-US" dirty="0"/>
              <a:t>Decreases longitudinal momentum spread at the cost of increasing longitudinal position spread (longitudinal emittance unchanged)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625243-C0BD-767C-7C1E-6920049B0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190" y="4146436"/>
            <a:ext cx="2243448" cy="2243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55DD68-831F-0DE5-E7BB-EEB246FB1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20" y="4146437"/>
            <a:ext cx="2243447" cy="2243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2EC7F-88A6-6FB9-3345-DD71D24F6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5961" y="4146436"/>
            <a:ext cx="2243448" cy="224344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1DCB155-3371-E5C2-EF7E-D5CAA9DA9C59}"/>
              </a:ext>
            </a:extLst>
          </p:cNvPr>
          <p:cNvSpPr/>
          <p:nvPr/>
        </p:nvSpPr>
        <p:spPr>
          <a:xfrm>
            <a:off x="3630617" y="4841399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50F1D6E-E776-B24A-3D7C-985D96462676}"/>
              </a:ext>
            </a:extLst>
          </p:cNvPr>
          <p:cNvSpPr/>
          <p:nvPr/>
        </p:nvSpPr>
        <p:spPr>
          <a:xfrm>
            <a:off x="7097767" y="4840731"/>
            <a:ext cx="892065" cy="85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0648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1850</TotalTime>
  <Words>704</Words>
  <Application>Microsoft Office PowerPoint</Application>
  <PresentationFormat>Widescreen</PresentationFormat>
  <Paragraphs>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Century Gothic</vt:lpstr>
      <vt:lpstr>Wingdings</vt:lpstr>
      <vt:lpstr>Vapor Trail</vt:lpstr>
      <vt:lpstr>Final Cooling with Thick Wedges for a Muon Collider</vt:lpstr>
      <vt:lpstr>Introduction: Muon Collider</vt:lpstr>
      <vt:lpstr>PowerPoint Presentation</vt:lpstr>
      <vt:lpstr>Introduction: Cooling</vt:lpstr>
      <vt:lpstr>Muon cooling channel</vt:lpstr>
      <vt:lpstr>Background: Emittance and Courant–Snyder parameters</vt:lpstr>
      <vt:lpstr>Additional Wedge Simulations</vt:lpstr>
      <vt:lpstr>Drift channel</vt:lpstr>
      <vt:lpstr>Drift channel</vt:lpstr>
      <vt:lpstr>Differences between MAD-X and G4Beamline</vt:lpstr>
      <vt:lpstr>Drift channel in G4Beamline</vt:lpstr>
      <vt:lpstr>FODO cell edges</vt:lpstr>
      <vt:lpstr>Optimizing Magnet Gradients</vt:lpstr>
      <vt:lpstr>Simulation of multiple cells</vt:lpstr>
      <vt:lpstr>Next Steps</vt:lpstr>
      <vt:lpstr>Thank you for listening!</vt:lpstr>
      <vt:lpstr>Wedge mechanism</vt:lpstr>
      <vt:lpstr>Phase Rotation Mechanism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Fu</dc:creator>
  <cp:lastModifiedBy>Daniel Fu</cp:lastModifiedBy>
  <cp:revision>9</cp:revision>
  <dcterms:created xsi:type="dcterms:W3CDTF">2025-03-04T05:40:36Z</dcterms:created>
  <dcterms:modified xsi:type="dcterms:W3CDTF">2025-03-06T04:20:07Z</dcterms:modified>
</cp:coreProperties>
</file>