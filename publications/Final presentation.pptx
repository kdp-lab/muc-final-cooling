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87" r:id="rId3"/>
    <p:sldId id="285" r:id="rId4"/>
    <p:sldId id="279" r:id="rId5"/>
    <p:sldId id="264" r:id="rId6"/>
    <p:sldId id="289" r:id="rId7"/>
    <p:sldId id="260" r:id="rId8"/>
    <p:sldId id="261" r:id="rId9"/>
    <p:sldId id="277" r:id="rId10"/>
    <p:sldId id="265" r:id="rId11"/>
    <p:sldId id="313" r:id="rId12"/>
    <p:sldId id="266" r:id="rId13"/>
    <p:sldId id="267" r:id="rId14"/>
    <p:sldId id="273" r:id="rId15"/>
    <p:sldId id="311" r:id="rId16"/>
    <p:sldId id="280" r:id="rId17"/>
    <p:sldId id="283" r:id="rId18"/>
    <p:sldId id="290" r:id="rId19"/>
    <p:sldId id="291" r:id="rId20"/>
    <p:sldId id="292" r:id="rId21"/>
    <p:sldId id="293" r:id="rId22"/>
    <p:sldId id="295" r:id="rId23"/>
    <p:sldId id="296" r:id="rId24"/>
    <p:sldId id="298" r:id="rId25"/>
    <p:sldId id="299" r:id="rId26"/>
    <p:sldId id="297" r:id="rId27"/>
    <p:sldId id="310" r:id="rId28"/>
    <p:sldId id="304" r:id="rId29"/>
    <p:sldId id="307" r:id="rId30"/>
    <p:sldId id="312" r:id="rId31"/>
    <p:sldId id="274" r:id="rId32"/>
    <p:sldId id="262" r:id="rId33"/>
    <p:sldId id="272" r:id="rId34"/>
    <p:sldId id="309" r:id="rId35"/>
    <p:sldId id="316" r:id="rId36"/>
    <p:sldId id="315" r:id="rId37"/>
    <p:sldId id="300" r:id="rId38"/>
    <p:sldId id="268" r:id="rId39"/>
    <p:sldId id="270" r:id="rId40"/>
    <p:sldId id="269" r:id="rId41"/>
    <p:sldId id="259" r:id="rId42"/>
    <p:sldId id="308" r:id="rId43"/>
    <p:sldId id="25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FFF00"/>
    <a:srgbClr val="D9D9D9"/>
    <a:srgbClr val="73737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1" autoAdjust="0"/>
    <p:restoredTop sz="94681" autoAdjust="0"/>
  </p:normalViewPr>
  <p:slideViewPr>
    <p:cSldViewPr snapToGrid="0">
      <p:cViewPr varScale="1">
        <p:scale>
          <a:sx n="99" d="100"/>
          <a:sy n="99" d="100"/>
        </p:scale>
        <p:origin x="92" y="1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09137-AB99-4468-BE99-A378478279CD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6FA4-A742-4D20-97A1-154B03C7B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178D9-4C0C-43AF-A99E-B52876AA63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6260-A8EF-68C9-6911-9636ED012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DD0FB-626D-9794-7C56-A1DD14BDE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8A24-EB0B-E16D-AD79-0B83A614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E27F-2933-43D3-A1D8-DE30D7C88E55}" type="datetime1">
              <a:rPr lang="en-US" smtClean="0"/>
              <a:t>5/17/2025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B9F79-0B0D-FF42-1FBE-3EFC955D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2D7CF-FD03-37C7-8299-D9CF59EE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61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26ECF-8F15-15DE-08FE-2D2D6CE9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36042-671F-3A48-8D9B-03FCBD7D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7219" y="6492875"/>
            <a:ext cx="4137561" cy="365125"/>
          </a:xfrm>
        </p:spPr>
        <p:txBody>
          <a:bodyPr/>
          <a:lstStyle/>
          <a:p>
            <a:fld id="{3F841346-31AF-4B72-8DD5-9393E04DC81C}" type="datetime1">
              <a:rPr lang="en-US" smtClean="0"/>
              <a:t>5/17/2025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1F446-6122-9410-3AFB-B7C7253D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2176"/>
            <a:ext cx="2743200" cy="365125"/>
          </a:xfrm>
        </p:spPr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C7569-8749-15E1-A71B-3FE04981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2175"/>
            <a:ext cx="2743200" cy="365125"/>
          </a:xfrm>
        </p:spPr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712E84-0D19-0B58-C24E-E81FDDDD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65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EC85-7DB7-6A3E-3072-0BD4C2C5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E1504-837C-832D-A3D4-2C9BDA9B5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C496-F782-DA1D-76B2-F54DD8C7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DB15-0952-44B1-BEFA-15ACECD6874D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99C2C-6730-6E8F-C8CF-7F8388F7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00A03-719F-4C3B-14EC-3EB559BD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4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1851-CFA5-AD4B-DF71-0FC35DF1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1F1D-079B-1241-F288-B17558019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62FF2-3A6F-DD8F-A7CE-CF9EC56A9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5B921-82C4-4BCE-4445-164BEF0E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1267-CCB7-4FF2-BBED-7251C6D14B08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1FA9A-2D02-4B97-942A-51424968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C7A56-1D5D-B7F2-10D0-1AD1F61D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9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626D-2FF7-B669-BFC8-2E984F28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2AD59-2F2F-8724-516A-36444C19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D9338-1AC0-8177-8D2D-D93F74ECE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1B720-0A8F-36C6-5736-DBFFC2D68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DB72D-596F-BCB5-3D96-62997FC6A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F7398-BF1C-A104-EEDE-E1230E70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4E0D-0134-4A39-BC37-6629B9216DFF}" type="datetime1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BCCA5-A2CF-5DA5-21E7-5C6E5536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0A61A-1FD1-E3D5-D944-42C011D6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7D0F-A37C-34EA-8E84-07F23877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AB243-BB8D-B606-687A-F08ED916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3729-087E-4A9A-BDE2-2002B269F61E}" type="datetime1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63CC8-2D0A-6BB5-CE70-5D337433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20247-007B-0425-9084-74FDD024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9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45DC5-8A0C-7B9F-AEC6-649E3DABF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37C8D-A25A-406B-882A-7B7E170187A1}" type="datetime1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23DC9-F411-3451-B1C1-57189F26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3452C-633B-0D4A-7BD2-BC8D249C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8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8412-C108-B579-2D8A-F58C5D75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0E4E-640A-E4B0-7719-AD6102139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D31E7-47B7-53BC-7D1C-E74A32796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AE265-E548-3357-B20E-C5D54309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D9226-9646-49FB-B126-31B401ADAE94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308D-6955-74F1-6887-7D8DD339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17357-D44A-A44C-D5E8-B800C6E4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3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A460-CEC4-4BA4-4B8D-78528BBB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659D5-2F92-051A-9102-71C7A8BED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F4A6C-FDAB-15CD-DA93-BDC016960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DF385-0B89-A44F-BA8D-8EC0A24B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E6B0-1FAD-444D-8E44-BFE701C514D4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201B2-D55B-8988-6184-453DF01F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E958F-B329-C586-E670-3F527B48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8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8548-8B52-4621-83B2-06CAB876D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5F8A4-985D-C3FB-73A5-D53BB8DB5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39E30-3B09-1CB2-07D5-DD1A9B38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762E-1193-4C41-85C1-0E9872AB81B3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6595D-3DBF-D1B5-3504-15CBEBD4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4578B-3802-6BFC-1630-A2A28B92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1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331AB-6D0A-A0CE-89DE-6BCF48F36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D0BB4-7C79-5455-BEA7-0951A7EDB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D9B0-93B0-5BDD-2D1B-45913F8E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7DB1-D522-45BD-81BC-CA94DB77D930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E7FC-12E5-9874-8075-EF02B271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5B179-E846-FBF3-E538-148D2771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1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F8F5A6-F6F1-8646-FBD5-204E1910F4D6}"/>
              </a:ext>
            </a:extLst>
          </p:cNvPr>
          <p:cNvSpPr/>
          <p:nvPr userDrawn="1"/>
        </p:nvSpPr>
        <p:spPr>
          <a:xfrm>
            <a:off x="991" y="6415726"/>
            <a:ext cx="12191009" cy="43938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9D9D9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3A3A4-31DA-FCD0-2392-E2FED9F6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28F3A-004C-B8B5-940D-AC0FD8C72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10F75-3AB3-7A66-46F4-94D007A65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26724" y="6489988"/>
            <a:ext cx="4137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9D9D9"/>
                </a:solidFill>
              </a:defRPr>
            </a:lvl1pPr>
          </a:lstStyle>
          <a:p>
            <a:fld id="{FD04A8A7-BE6D-46FF-BF9B-D594A0530763}" type="datetime1">
              <a:rPr lang="en-US" smtClean="0"/>
              <a:pPr/>
              <a:t>5/17/2025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22E5-EF91-E8A7-4539-35B05364A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D9D9D9"/>
                </a:solidFill>
              </a:defRPr>
            </a:lvl1pPr>
          </a:lstStyle>
          <a:p>
            <a:r>
              <a:rPr lang="en-US"/>
              <a:t>Daniel Fu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D12E-B60D-C970-7699-248C4B14C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809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D9D9D9"/>
                </a:solidFill>
              </a:defRPr>
            </a:lvl1pPr>
          </a:lstStyle>
          <a:p>
            <a:fld id="{C57431EF-81CA-4F78-AD75-F932C81BD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AE500-47E8-EF82-2B72-6966E8BBC839}"/>
              </a:ext>
            </a:extLst>
          </p:cNvPr>
          <p:cNvSpPr/>
          <p:nvPr userDrawn="1"/>
        </p:nvSpPr>
        <p:spPr>
          <a:xfrm>
            <a:off x="0" y="0"/>
            <a:ext cx="12191009" cy="43938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1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u="sng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12.08960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nk.aps.org/doi/10.1103/PhysRevSTAB.18.091001" TargetMode="Externa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FDBF-5242-4E31-E8CE-7C63D3C04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none" dirty="0"/>
              <a:t>Final Cooling with Thick Wedges for a Muon Collider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961D2-B36E-26D0-0D16-7E35B33B7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59291"/>
          </a:xfrm>
        </p:spPr>
        <p:txBody>
          <a:bodyPr/>
          <a:lstStyle/>
          <a:p>
            <a:r>
              <a:rPr lang="en-US" dirty="0"/>
              <a:t>Daniel Fu, University of Chicago</a:t>
            </a:r>
          </a:p>
          <a:p>
            <a:r>
              <a:rPr lang="en-US" dirty="0"/>
              <a:t>Advisor: Karri </a:t>
            </a:r>
            <a:r>
              <a:rPr lang="en-US" dirty="0" err="1"/>
              <a:t>DiPetrillo</a:t>
            </a:r>
            <a:endParaRPr lang="en-US" dirty="0"/>
          </a:p>
          <a:p>
            <a:r>
              <a:rPr lang="en-US" dirty="0"/>
              <a:t>19 May 2025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EFF48857-29CD-73F3-D6ED-C51965C24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0" y="5302532"/>
            <a:ext cx="4333875" cy="819150"/>
          </a:xfrm>
          <a:prstGeom prst="rect">
            <a:avLst/>
          </a:prstGeom>
        </p:spPr>
      </p:pic>
      <p:pic>
        <p:nvPicPr>
          <p:cNvPr id="6" name="Picture 5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BAC0C87A-5A38-0BEB-F8AA-2441D3CC9B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1" r="4832"/>
          <a:stretch/>
        </p:blipFill>
        <p:spPr>
          <a:xfrm>
            <a:off x="7537529" y="4688912"/>
            <a:ext cx="4566062" cy="184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40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62A4-6E90-9ED0-7773-7AD0DA35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Muon Collider?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320A8-BB96-9AB2-E28E-01950F2D2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Proton-proton colliders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B43F1-FC43-0223-B43B-213B3EC558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Can accelerate to high energy in circular collider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Effective for particle searches</a:t>
            </a:r>
          </a:p>
          <a:p>
            <a:r>
              <a:rPr lang="en-US" dirty="0">
                <a:solidFill>
                  <a:srgbClr val="C00000"/>
                </a:solidFill>
              </a:rPr>
              <a:t>Composite particle; only ~10% of collision energy used</a:t>
            </a:r>
          </a:p>
          <a:p>
            <a:r>
              <a:rPr lang="en-US" dirty="0">
                <a:solidFill>
                  <a:srgbClr val="C00000"/>
                </a:solidFill>
              </a:rPr>
              <a:t>Interaction energy is variable and difficult to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CA53A-5A23-451F-E394-D1B9AF0D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Electron-positron colliders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DB2717-55F4-5BAB-99ED-CE7E2E612DA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Elementary particle, so collision is 100% efficient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Precision measurements can be performed with energy tuning</a:t>
            </a:r>
          </a:p>
          <a:p>
            <a:r>
              <a:rPr lang="en-US" dirty="0">
                <a:solidFill>
                  <a:srgbClr val="C00000"/>
                </a:solidFill>
              </a:rPr>
              <a:t>Synchrotron radiation limits energy in circular collider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1CC078-A939-048B-FDDB-77CAD2E3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59C546-FAC6-66A1-5B30-AB5E4106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32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577A2-BF27-BB7D-7FDE-F45BA2901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muon collider </a:t>
            </a:r>
            <a:r>
              <a:rPr lang="en-US" dirty="0"/>
              <a:t>would collide muons and antimuons</a:t>
            </a:r>
          </a:p>
          <a:p>
            <a:pPr lvl="1"/>
            <a:r>
              <a:rPr lang="en-US" dirty="0"/>
              <a:t>Muons are elementary particles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whole energy of collision used in interaction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Muons are more massive than electrons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synchrotron radiation losses minimal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 a lepton collider, it can perform precision measurements</a:t>
            </a:r>
            <a:endParaRPr lang="en-US" dirty="0"/>
          </a:p>
          <a:p>
            <a:r>
              <a:rPr lang="en-US" dirty="0"/>
              <a:t>Potential to explore new physics with smaller footprint and lower cost</a:t>
            </a:r>
          </a:p>
          <a:p>
            <a:r>
              <a:rPr lang="en-US" dirty="0"/>
              <a:t>A 10 TeV muon collider would have physics reach similar to a 100 TeV proton collider like the FCC in a facility the size of the LHC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9556B-79A4-2FE2-C1BE-9D28B22E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A016-0031-DC16-FF20-6C34D0BC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BF00FE-F7C3-69E3-8668-3BF33BEB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Muon Collider?</a:t>
            </a:r>
          </a:p>
        </p:txBody>
      </p:sp>
    </p:spTree>
    <p:extLst>
      <p:ext uri="{BB962C8B-B14F-4D97-AF65-F5344CB8AC3E}">
        <p14:creationId xmlns:p14="http://schemas.microsoft.com/office/powerpoint/2010/main" val="219114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r>
              <a:rPr lang="en-US" dirty="0"/>
              <a:t>Muon production</a:t>
            </a:r>
            <a:endParaRPr dirty="0"/>
          </a:p>
        </p:txBody>
      </p:sp>
      <p:sp>
        <p:nvSpPr>
          <p:cNvPr id="103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199" y="1825625"/>
            <a:ext cx="9946908" cy="1603376"/>
          </a:xfrm>
          <a:prstGeom prst="rect">
            <a:avLst/>
          </a:prstGeom>
        </p:spPr>
        <p:txBody>
          <a:bodyPr/>
          <a:lstStyle/>
          <a:p>
            <a:r>
              <a:rPr dirty="0"/>
              <a:t>Muons are unstable, must produce, accelerate, and collide them before they decay</a:t>
            </a:r>
            <a:endParaRPr lang="en-US" dirty="0"/>
          </a:p>
          <a:p>
            <a:r>
              <a:rPr lang="en-US" dirty="0"/>
              <a:t>Proton-target collisions produce pions, which decay into muons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D0D91-C02B-2E2F-D374-9A6CB097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5EBE6-BDF9-4433-3BD9-F7F2648B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4</a:t>
            </a:fld>
            <a:endParaRPr lang="en-US"/>
          </a:p>
        </p:txBody>
      </p:sp>
      <p:pic>
        <p:nvPicPr>
          <p:cNvPr id="7" name="Content Placeholder 6" descr="A diagram of a magnet&#10;&#10;Description automatically generated">
            <a:extLst>
              <a:ext uri="{FF2B5EF4-FFF2-40B4-BE49-F238E27FC236}">
                <a16:creationId xmlns:a16="http://schemas.microsoft.com/office/drawing/2014/main" id="{678F92E1-1E50-7DE7-0E98-3BA673E6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7" b="13864"/>
          <a:stretch/>
        </p:blipFill>
        <p:spPr>
          <a:xfrm>
            <a:off x="1196189" y="3429000"/>
            <a:ext cx="9799621" cy="2802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8EF25D-CF9B-B8D3-AF80-201FCCABB48E}"/>
              </a:ext>
            </a:extLst>
          </p:cNvPr>
          <p:cNvSpPr txBox="1"/>
          <p:nvPr/>
        </p:nvSpPr>
        <p:spPr>
          <a:xfrm>
            <a:off x="1196189" y="6077687"/>
            <a:ext cx="1166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CERN</a:t>
            </a:r>
          </a:p>
        </p:txBody>
      </p:sp>
    </p:spTree>
    <p:extLst>
      <p:ext uri="{BB962C8B-B14F-4D97-AF65-F5344CB8AC3E}">
        <p14:creationId xmlns:p14="http://schemas.microsoft.com/office/powerpoint/2010/main" val="114248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r>
              <a:rPr dirty="0"/>
              <a:t>Emittance and Cooling</a:t>
            </a:r>
          </a:p>
        </p:txBody>
      </p:sp>
      <p:sp>
        <p:nvSpPr>
          <p:cNvPr id="110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7872352" cy="3052126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dirty="0"/>
              <a:t>Initial high variance in muon position and momentum – measured by </a:t>
            </a:r>
            <a:r>
              <a:rPr b="1" dirty="0"/>
              <a:t>emittance</a:t>
            </a:r>
            <a:r>
              <a:rPr dirty="0"/>
              <a:t> </a:t>
            </a:r>
            <a:endParaRPr lang="en-US" dirty="0"/>
          </a:p>
          <a:p>
            <a:r>
              <a:rPr lang="en-US" dirty="0"/>
              <a:t>Emittance measured in </a:t>
            </a:r>
            <a:r>
              <a:rPr lang="en-US" b="1" dirty="0"/>
              <a:t>longitudinal</a:t>
            </a:r>
            <a:r>
              <a:rPr lang="en-US" dirty="0"/>
              <a:t> (parallel to beam) and </a:t>
            </a:r>
            <a:r>
              <a:rPr lang="en-US" b="1" dirty="0"/>
              <a:t>transverse</a:t>
            </a:r>
            <a:r>
              <a:rPr lang="en-US" dirty="0"/>
              <a:t> (perpendicular to beam) axes</a:t>
            </a:r>
          </a:p>
          <a:p>
            <a:r>
              <a:rPr dirty="0"/>
              <a:t>Reducing emittance </a:t>
            </a:r>
            <a:r>
              <a:rPr lang="en-US" dirty="0"/>
              <a:t>is necessary for building a collider</a:t>
            </a:r>
            <a:r>
              <a:rPr dirty="0"/>
              <a:t>; this process is known as </a:t>
            </a:r>
            <a:r>
              <a:rPr b="1" dirty="0"/>
              <a:t>cooling</a:t>
            </a:r>
            <a:endParaRPr lang="en-US" b="1" dirty="0"/>
          </a:p>
          <a:p>
            <a:r>
              <a:rPr lang="en-US" dirty="0"/>
              <a:t>Final stages of cooling specifically decrease transverse emittance – </a:t>
            </a:r>
            <a:r>
              <a:rPr lang="en-US" b="1" dirty="0"/>
              <a:t>emittance exchange</a:t>
            </a:r>
            <a:endParaRPr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DF99B-2FCA-3A5B-5AB7-759B42E2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10B57-8EB4-2DD9-BE32-F8481E94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A39D70-1CEF-7BEC-D2E3-6ED28130BECB}"/>
              </a:ext>
            </a:extLst>
          </p:cNvPr>
          <p:cNvGrpSpPr/>
          <p:nvPr/>
        </p:nvGrpSpPr>
        <p:grpSpPr>
          <a:xfrm>
            <a:off x="2425373" y="4899240"/>
            <a:ext cx="3670627" cy="1426736"/>
            <a:chOff x="2425373" y="4699621"/>
            <a:chExt cx="3670627" cy="1426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7E756C-C99C-B346-8420-25BBEDFC1878}"/>
                </a:ext>
              </a:extLst>
            </p:cNvPr>
            <p:cNvSpPr/>
            <p:nvPr/>
          </p:nvSpPr>
          <p:spPr>
            <a:xfrm>
              <a:off x="4696690" y="5545775"/>
              <a:ext cx="950027" cy="445325"/>
            </a:xfrm>
            <a:prstGeom prst="rect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~1035 cm-2 s-1">
                  <a:extLst>
                    <a:ext uri="{FF2B5EF4-FFF2-40B4-BE49-F238E27FC236}">
                      <a16:creationId xmlns:a16="http://schemas.microsoft.com/office/drawing/2014/main" id="{AFC41C74-159B-CB7B-8A94-91BC42D567A7}"/>
                    </a:ext>
                  </a:extLst>
                </p:cNvPr>
                <p:cNvSpPr txBox="1"/>
                <p:nvPr/>
              </p:nvSpPr>
              <p:spPr>
                <a:xfrm>
                  <a:off x="2425373" y="4699621"/>
                  <a:ext cx="3670627" cy="14267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spcBef>
                      <a:spcPts val="2000"/>
                    </a:spcBef>
                    <a:defRPr sz="5900"/>
                  </a:pPr>
                  <a14:m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⟩=</m:t>
                      </m:r>
                      <m:f>
                        <m:f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sz="4400" dirty="0"/>
                    <a:t> </a:t>
                  </a:r>
                </a:p>
              </p:txBody>
            </p:sp>
          </mc:Choice>
          <mc:Fallback xmlns="">
            <p:sp>
              <p:nvSpPr>
                <p:cNvPr id="6" name="~1035 cm-2 s-1">
                  <a:extLst>
                    <a:ext uri="{FF2B5EF4-FFF2-40B4-BE49-F238E27FC236}">
                      <a16:creationId xmlns:a16="http://schemas.microsoft.com/office/drawing/2014/main" id="{AFC41C74-159B-CB7B-8A94-91BC42D56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373" y="4699621"/>
                  <a:ext cx="3670627" cy="142673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03E96C-A6EA-452B-1C70-EFCD30ED80FF}"/>
              </a:ext>
            </a:extLst>
          </p:cNvPr>
          <p:cNvGrpSpPr/>
          <p:nvPr/>
        </p:nvGrpSpPr>
        <p:grpSpPr>
          <a:xfrm>
            <a:off x="8726582" y="1027906"/>
            <a:ext cx="3337327" cy="3931842"/>
            <a:chOff x="8565903" y="316850"/>
            <a:chExt cx="3337327" cy="39318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32FA82-53AE-3306-427D-DA419D667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65903" y="963181"/>
              <a:ext cx="3285511" cy="3285511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987A7A4-14DE-C48E-741B-EDAAFDA63334}"/>
                </a:ext>
              </a:extLst>
            </p:cNvPr>
            <p:cNvSpPr/>
            <p:nvPr/>
          </p:nvSpPr>
          <p:spPr>
            <a:xfrm rot="2913506">
              <a:off x="9671605" y="1910842"/>
              <a:ext cx="1720051" cy="958138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C0DDD7-73F7-F6E4-9B2C-209DCE6723BD}"/>
                </a:ext>
              </a:extLst>
            </p:cNvPr>
            <p:cNvSpPr txBox="1"/>
            <p:nvPr/>
          </p:nvSpPr>
          <p:spPr>
            <a:xfrm>
              <a:off x="9160030" y="316850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Emittance = area of distribution in phase-space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2DDB48C-0D61-3DEC-9B74-8BEFF0B6A2FA}"/>
                </a:ext>
              </a:extLst>
            </p:cNvPr>
            <p:cNvCxnSpPr/>
            <p:nvPr/>
          </p:nvCxnSpPr>
          <p:spPr>
            <a:xfrm>
              <a:off x="10531630" y="963181"/>
              <a:ext cx="0" cy="5984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Arrow: Left 13">
            <a:extLst>
              <a:ext uri="{FF2B5EF4-FFF2-40B4-BE49-F238E27FC236}">
                <a16:creationId xmlns:a16="http://schemas.microsoft.com/office/drawing/2014/main" id="{B9879BFB-EF5D-938C-BB61-EFD3CA352DCC}"/>
              </a:ext>
            </a:extLst>
          </p:cNvPr>
          <p:cNvSpPr/>
          <p:nvPr/>
        </p:nvSpPr>
        <p:spPr>
          <a:xfrm>
            <a:off x="5848597" y="5745394"/>
            <a:ext cx="765959" cy="44532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6C276-4045-5CD1-2486-0397021BFCBF}"/>
              </a:ext>
            </a:extLst>
          </p:cNvPr>
          <p:cNvSpPr txBox="1"/>
          <p:nvPr/>
        </p:nvSpPr>
        <p:spPr>
          <a:xfrm>
            <a:off x="6715496" y="5644890"/>
            <a:ext cx="2826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Variances in position related to transverse emittance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06D6-9F02-561C-C25D-A4EB985A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Courant–Snyder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C08D4-74AB-4A7D-C58D-56EDAD7948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Describe particle distribution in position-momentum (phase) space</a:t>
            </a:r>
          </a:p>
          <a:p>
            <a:r>
              <a:rPr lang="en-US" b="1" dirty="0"/>
              <a:t>Emittance</a:t>
            </a:r>
            <a:r>
              <a:rPr lang="en-US" dirty="0"/>
              <a:t> measures the size of the distribution</a:t>
            </a:r>
          </a:p>
          <a:p>
            <a:r>
              <a:rPr lang="el-GR" b="1" dirty="0"/>
              <a:t>β</a:t>
            </a:r>
            <a:r>
              <a:rPr lang="en-US" b="1" dirty="0"/>
              <a:t> (beta) </a:t>
            </a:r>
            <a:r>
              <a:rPr lang="en-US" dirty="0"/>
              <a:t>measures the physical size of the beam (lower beta = stronger focusing)</a:t>
            </a:r>
          </a:p>
          <a:p>
            <a:r>
              <a:rPr lang="el-GR" b="1" dirty="0"/>
              <a:t>α</a:t>
            </a:r>
            <a:r>
              <a:rPr lang="en-US" b="1" dirty="0"/>
              <a:t> (alpha)</a:t>
            </a:r>
            <a:r>
              <a:rPr lang="en-US" dirty="0"/>
              <a:t> indicates whether the beam is converging or diverging</a:t>
            </a:r>
          </a:p>
          <a:p>
            <a:r>
              <a:rPr lang="en-US" dirty="0"/>
              <a:t>Measured on each axis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CC9A-4D01-FC9C-8911-60069005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32C24-01D9-0E76-6A3D-A395DDF1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6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DE9C977-12E7-F437-BD10-9A6490519F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825624"/>
            <a:ext cx="5913549" cy="4069608"/>
          </a:xfrm>
        </p:spPr>
      </p:pic>
    </p:spTree>
    <p:extLst>
      <p:ext uri="{BB962C8B-B14F-4D97-AF65-F5344CB8AC3E}">
        <p14:creationId xmlns:p14="http://schemas.microsoft.com/office/powerpoint/2010/main" val="36573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84B8-7E2B-A40C-2F30-2E8A9849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Ionization Cooling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D030-E869-B740-8B54-3F491BD5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57429"/>
            <a:ext cx="5742904" cy="4454305"/>
          </a:xfrm>
        </p:spPr>
        <p:txBody>
          <a:bodyPr>
            <a:normAutofit/>
          </a:bodyPr>
          <a:lstStyle/>
          <a:p>
            <a:r>
              <a:rPr lang="en-US" dirty="0"/>
              <a:t>Used because of short muon lifetime</a:t>
            </a:r>
          </a:p>
          <a:p>
            <a:r>
              <a:rPr lang="en-US" dirty="0"/>
              <a:t>Beam passed through matter, loses energy through ionization</a:t>
            </a:r>
          </a:p>
          <a:p>
            <a:r>
              <a:rPr lang="en-US" dirty="0"/>
              <a:t>Momentum reduced in all axes (transverse and longitudinal)</a:t>
            </a:r>
          </a:p>
          <a:p>
            <a:r>
              <a:rPr lang="en-US" dirty="0"/>
              <a:t>Beam reaccelerated in RF cavity </a:t>
            </a:r>
          </a:p>
          <a:p>
            <a:r>
              <a:rPr lang="en-US" dirty="0"/>
              <a:t>Ends with greater proportion of momentum in longitudinal direction, achieving cooling</a:t>
            </a:r>
          </a:p>
        </p:txBody>
      </p:sp>
      <p:pic>
        <p:nvPicPr>
          <p:cNvPr id="11" name="Picture 10" descr="A diagram of a blue and purple device&#10;&#10;Description automatically generated with medium confidence">
            <a:extLst>
              <a:ext uri="{FF2B5EF4-FFF2-40B4-BE49-F238E27FC236}">
                <a16:creationId xmlns:a16="http://schemas.microsoft.com/office/drawing/2014/main" id="{F63D19E5-9E62-C018-CE46-260C7350E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896" y="3429000"/>
            <a:ext cx="5166240" cy="2766481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7B1A684-FD81-DA31-10DD-F8DE3DAB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1440E6-F1F9-AE2E-01C8-86A8FFF9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9B2A7-842D-FC91-1FF5-4463109E0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00" y="958381"/>
            <a:ext cx="4928536" cy="202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9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E6C6-5EE2-216C-4BA3-63B154EB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Problems with Ionization Cooling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60C4E-6E84-CF3C-D95A-5CC98D9CB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407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Less effective as emittance decreases</a:t>
                </a:r>
              </a:p>
              <a:p>
                <a:r>
                  <a:rPr lang="en-US" dirty="0"/>
                  <a:t>Multiple scattering increases emittance</a:t>
                </a:r>
              </a:p>
              <a:p>
                <a:r>
                  <a:rPr lang="en-US" dirty="0"/>
                  <a:t>Equilibrium point dependent on momentum and beam width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Final stages require high field (40-50 T) focusing solenoids – impractical to construct and operate</a:t>
                </a:r>
              </a:p>
              <a:p>
                <a:r>
                  <a:rPr lang="en-US" dirty="0"/>
                  <a:t>Low momentum required – drastically increases longitudinal emittance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60C4E-6E84-CF3C-D95A-5CC98D9CB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4070" cy="4667250"/>
              </a:xfrm>
              <a:blipFill>
                <a:blip r:embed="rId2"/>
                <a:stretch>
                  <a:fillRect l="-1685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651CA-F04D-595F-4DB7-F19C25E5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0139A-2FFC-495D-E6BB-2536BD9F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8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F8A9D2-8CA9-CB71-7483-DBF26B819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251" y="1897782"/>
            <a:ext cx="3596177" cy="972336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DB1B1EB8-3DD0-5D64-B727-18F83EA15C9C}"/>
              </a:ext>
            </a:extLst>
          </p:cNvPr>
          <p:cNvSpPr/>
          <p:nvPr/>
        </p:nvSpPr>
        <p:spPr>
          <a:xfrm>
            <a:off x="7281651" y="2243612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7FF88E-97F9-3C63-9691-E0F98D0DA70D}"/>
              </a:ext>
            </a:extLst>
          </p:cNvPr>
          <p:cNvSpPr/>
          <p:nvPr/>
        </p:nvSpPr>
        <p:spPr>
          <a:xfrm>
            <a:off x="9850119" y="1973363"/>
            <a:ext cx="355601" cy="378678"/>
          </a:xfrm>
          <a:prstGeom prst="rect">
            <a:avLst/>
          </a:prstGeom>
          <a:solidFill>
            <a:srgbClr val="FF00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EE5020-7C4D-42C3-FAF3-7795FA92668F}"/>
              </a:ext>
            </a:extLst>
          </p:cNvPr>
          <p:cNvSpPr/>
          <p:nvPr/>
        </p:nvSpPr>
        <p:spPr>
          <a:xfrm>
            <a:off x="5473878" y="3288381"/>
            <a:ext cx="355601" cy="378678"/>
          </a:xfrm>
          <a:prstGeom prst="rect">
            <a:avLst/>
          </a:prstGeom>
          <a:solidFill>
            <a:srgbClr val="FF00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B6B900-78DB-B0BE-3C48-1D5024BAAD38}"/>
              </a:ext>
            </a:extLst>
          </p:cNvPr>
          <p:cNvGrpSpPr/>
          <p:nvPr/>
        </p:nvGrpSpPr>
        <p:grpSpPr>
          <a:xfrm>
            <a:off x="8424022" y="3847360"/>
            <a:ext cx="2852193" cy="879068"/>
            <a:chOff x="8500991" y="3473238"/>
            <a:chExt cx="2852193" cy="87906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BD3D4AB-36B2-D70D-B790-8549B24D1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00991" y="3473238"/>
              <a:ext cx="2852193" cy="87906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E0714F-80B3-736C-35A5-279988D62CF0}"/>
                </a:ext>
              </a:extLst>
            </p:cNvPr>
            <p:cNvSpPr/>
            <p:nvPr/>
          </p:nvSpPr>
          <p:spPr>
            <a:xfrm>
              <a:off x="8523092" y="3739564"/>
              <a:ext cx="323274" cy="416546"/>
            </a:xfrm>
            <a:prstGeom prst="rect">
              <a:avLst/>
            </a:prstGeom>
            <a:solidFill>
              <a:srgbClr val="FF00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2456397-E830-A12F-7E21-2731DB165E9E}"/>
              </a:ext>
            </a:extLst>
          </p:cNvPr>
          <p:cNvSpPr/>
          <p:nvPr/>
        </p:nvSpPr>
        <p:spPr>
          <a:xfrm>
            <a:off x="7281651" y="4111872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6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E6C6-5EE2-216C-4BA3-63B154EB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Problems with Ionization Cooling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651CA-F04D-595F-4DB7-F19C25E5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0139A-2FFC-495D-E6BB-2536BD9F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9</a:t>
            </a:fld>
            <a:endParaRPr lang="en-US"/>
          </a:p>
        </p:txBody>
      </p:sp>
      <p:pic>
        <p:nvPicPr>
          <p:cNvPr id="11" name="medium-3.png" descr="medium-3.png">
            <a:extLst>
              <a:ext uri="{FF2B5EF4-FFF2-40B4-BE49-F238E27FC236}">
                <a16:creationId xmlns:a16="http://schemas.microsoft.com/office/drawing/2014/main" id="{DAFA74C2-1EF6-A179-D320-EBA024538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6915" y="1711470"/>
            <a:ext cx="5625193" cy="438765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C2574D-A3DF-0A6C-AA9F-1D34B6471660}"/>
              </a:ext>
            </a:extLst>
          </p:cNvPr>
          <p:cNvSpPr txBox="1"/>
          <p:nvPr/>
        </p:nvSpPr>
        <p:spPr>
          <a:xfrm>
            <a:off x="310168" y="4687909"/>
            <a:ext cx="2851596" cy="946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Achieving low emittances requires high magnetic fields and low momentums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27FF07B-4E74-8825-82AC-31BDBC94DE20}"/>
              </a:ext>
            </a:extLst>
          </p:cNvPr>
          <p:cNvSpPr/>
          <p:nvPr/>
        </p:nvSpPr>
        <p:spPr>
          <a:xfrm>
            <a:off x="3052293" y="5006662"/>
            <a:ext cx="953036" cy="3090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C5A5-C781-7F3C-0EDA-0716F721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Cooling with Thick Wedges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86620-5D0C-E4AF-939B-B21DBE4A7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536155"/>
          </a:xfrm>
        </p:spPr>
        <p:txBody>
          <a:bodyPr/>
          <a:lstStyle/>
          <a:p>
            <a:r>
              <a:rPr lang="en-US" dirty="0"/>
              <a:t>Conceptual final cooling design proposed in 2017</a:t>
            </a:r>
          </a:p>
          <a:p>
            <a:r>
              <a:rPr lang="en-US" dirty="0"/>
              <a:t>Utilizes wedge-shaped absorbers to achieve emittance exchange</a:t>
            </a:r>
          </a:p>
          <a:p>
            <a:r>
              <a:rPr lang="en-US" dirty="0"/>
              <a:t>Lower magnetic field requirements than other methods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467F5-A247-A455-F0CE-ED75B1F6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12073-3B7D-1D8F-434C-39B9E635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10</a:t>
            </a:fld>
            <a:endParaRPr lang="en-US"/>
          </a:p>
        </p:txBody>
      </p:sp>
      <p:pic>
        <p:nvPicPr>
          <p:cNvPr id="8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7F0D1AEB-C8D1-0192-EDDE-4FF64F0B6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12" y="3477291"/>
            <a:ext cx="11023175" cy="2799410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F5CD70CB-C335-3D58-D890-1C6CECD71D6B}"/>
              </a:ext>
            </a:extLst>
          </p:cNvPr>
          <p:cNvSpPr/>
          <p:nvPr/>
        </p:nvSpPr>
        <p:spPr>
          <a:xfrm>
            <a:off x="6587542" y="3393583"/>
            <a:ext cx="540912" cy="90909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A511-746E-B68B-45F8-465751161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C9C-9A80-0292-FB94-46E9FCB5F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Cooling with Thick Wedges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BE868-92C8-DC78-D6D7-B40224E62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536155"/>
          </a:xfrm>
        </p:spPr>
        <p:txBody>
          <a:bodyPr/>
          <a:lstStyle/>
          <a:p>
            <a:r>
              <a:rPr lang="en-US" dirty="0"/>
              <a:t>Conceptual final cooling design proposed in 2017</a:t>
            </a:r>
          </a:p>
          <a:p>
            <a:r>
              <a:rPr lang="en-US" dirty="0"/>
              <a:t>Utilizes wedge-shaped absorbers to achieve emittance exchange</a:t>
            </a:r>
          </a:p>
          <a:p>
            <a:r>
              <a:rPr lang="en-US" dirty="0"/>
              <a:t>Lower magnetic field requirements than other methods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746C6-1EEB-7080-D6A3-8ACAB0D4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40DC1-B3A5-DBB9-C92F-0A73274E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yellow and orange lines&#10;&#10;AI-generated content may be incorrect.">
            <a:extLst>
              <a:ext uri="{FF2B5EF4-FFF2-40B4-BE49-F238E27FC236}">
                <a16:creationId xmlns:a16="http://schemas.microsoft.com/office/drawing/2014/main" id="{694631BD-BB0C-4782-DB3F-CE16C173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87" y="3496221"/>
            <a:ext cx="10782626" cy="27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5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yellow circle and purple triangle&#10;&#10;Description automatically generated">
            <a:extLst>
              <a:ext uri="{FF2B5EF4-FFF2-40B4-BE49-F238E27FC236}">
                <a16:creationId xmlns:a16="http://schemas.microsoft.com/office/drawing/2014/main" id="{3D8DD919-A18E-2796-0CEB-1E3A78835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56338"/>
            <a:ext cx="10510296" cy="43694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A3369-B457-B4E9-E270-2969B8D36D07}"/>
              </a:ext>
            </a:extLst>
          </p:cNvPr>
          <p:cNvSpPr txBox="1"/>
          <p:nvPr/>
        </p:nvSpPr>
        <p:spPr>
          <a:xfrm>
            <a:off x="8741861" y="1473211"/>
            <a:ext cx="299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Bending magnet deflects particles by amount proportional to momentum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95511-4340-05E5-57F0-170D9A6B4FD3}"/>
              </a:ext>
            </a:extLst>
          </p:cNvPr>
          <p:cNvSpPr txBox="1"/>
          <p:nvPr/>
        </p:nvSpPr>
        <p:spPr>
          <a:xfrm>
            <a:off x="8811135" y="5386263"/>
            <a:ext cx="3380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Resulting beam has lower transverse emittance but higher spread in longitudinal momentum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710D6-064B-7D28-06B6-322268BE7F55}"/>
              </a:ext>
            </a:extLst>
          </p:cNvPr>
          <p:cNvSpPr txBox="1"/>
          <p:nvPr/>
        </p:nvSpPr>
        <p:spPr>
          <a:xfrm>
            <a:off x="3888501" y="1657877"/>
            <a:ext cx="3372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Muons encounter varying amounts of wedge material, thus decelerate by different amounts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26E5D-E3BC-3690-4BDF-2E5A78664BB8}"/>
              </a:ext>
            </a:extLst>
          </p:cNvPr>
          <p:cNvSpPr txBox="1"/>
          <p:nvPr/>
        </p:nvSpPr>
        <p:spPr>
          <a:xfrm>
            <a:off x="978790" y="1934876"/>
            <a:ext cx="202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Beam enters wedge absorber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9B36750-DE3B-6D2D-AC90-9B28524A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E10A3D1-EA3C-D97A-CF14-103077EF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12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492BA24-C1CF-304C-3E4C-2BCE5B1D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62" y="365125"/>
            <a:ext cx="10515600" cy="1325563"/>
          </a:xfrm>
        </p:spPr>
        <p:txBody>
          <a:bodyPr/>
          <a:lstStyle/>
          <a:p>
            <a:r>
              <a:rPr lang="en-US" u="sng" dirty="0"/>
              <a:t>Wedge Cooling Mechanism</a:t>
            </a:r>
          </a:p>
        </p:txBody>
      </p:sp>
    </p:spTree>
    <p:extLst>
      <p:ext uri="{BB962C8B-B14F-4D97-AF65-F5344CB8AC3E}">
        <p14:creationId xmlns:p14="http://schemas.microsoft.com/office/powerpoint/2010/main" val="352507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1C30-A551-7AB0-E892-4BB511EA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62" y="365125"/>
            <a:ext cx="10515600" cy="1325563"/>
          </a:xfrm>
        </p:spPr>
        <p:txBody>
          <a:bodyPr/>
          <a:lstStyle/>
          <a:p>
            <a:r>
              <a:rPr lang="en-US" u="sng" dirty="0"/>
              <a:t>Wedge Cooling Mechanism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8033C-EBA3-5A3B-666A-188274883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6366" y="1631311"/>
            <a:ext cx="3039468" cy="3039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D13E3-BE23-6788-FED3-C170553AF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131" y="1631311"/>
            <a:ext cx="3039467" cy="3039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750B16-882B-D5B6-4E17-1EEC97119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69602" y="1631311"/>
            <a:ext cx="3039468" cy="303946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0F20739-EBA7-8590-6F71-9FFE78A089C8}"/>
              </a:ext>
            </a:extLst>
          </p:cNvPr>
          <p:cNvSpPr/>
          <p:nvPr/>
        </p:nvSpPr>
        <p:spPr>
          <a:xfrm>
            <a:off x="3633449" y="2723615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EA650A5-C9D4-D389-BB7E-FBAD2AF9E5F3}"/>
              </a:ext>
            </a:extLst>
          </p:cNvPr>
          <p:cNvSpPr/>
          <p:nvPr/>
        </p:nvSpPr>
        <p:spPr>
          <a:xfrm>
            <a:off x="7706685" y="2723615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59F632-6C55-34A3-A066-879D8230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DED8A6-DF7A-044F-42BD-A3879403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13</a:t>
            </a:fld>
            <a:endParaRPr lang="en-US"/>
          </a:p>
        </p:txBody>
      </p:sp>
      <p:pic>
        <p:nvPicPr>
          <p:cNvPr id="12" name="Content Placeholder 4" descr="A yellow circle and purple triangle&#10;&#10;Description automatically generated">
            <a:extLst>
              <a:ext uri="{FF2B5EF4-FFF2-40B4-BE49-F238E27FC236}">
                <a16:creationId xmlns:a16="http://schemas.microsoft.com/office/drawing/2014/main" id="{E5A3C2C8-CCC2-65F3-F245-9B16F6A2F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468" y="4362019"/>
            <a:ext cx="5185064" cy="2155588"/>
          </a:xfr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151AB2-C490-44B1-70EF-C5C6646F7236}"/>
              </a:ext>
            </a:extLst>
          </p:cNvPr>
          <p:cNvCxnSpPr>
            <a:cxnSpLocks/>
          </p:cNvCxnSpPr>
          <p:nvPr/>
        </p:nvCxnSpPr>
        <p:spPr>
          <a:xfrm>
            <a:off x="2983476" y="4477692"/>
            <a:ext cx="959132" cy="9196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A98DBC-B440-B48A-0CAC-00CFA7A554AB}"/>
              </a:ext>
            </a:extLst>
          </p:cNvPr>
          <p:cNvCxnSpPr>
            <a:cxnSpLocks/>
          </p:cNvCxnSpPr>
          <p:nvPr/>
        </p:nvCxnSpPr>
        <p:spPr>
          <a:xfrm flipH="1">
            <a:off x="5735782" y="4554187"/>
            <a:ext cx="160317" cy="8431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EDEA8D-7CEE-C89F-D8A9-1DED6150F4BD}"/>
              </a:ext>
            </a:extLst>
          </p:cNvPr>
          <p:cNvCxnSpPr>
            <a:cxnSpLocks/>
          </p:cNvCxnSpPr>
          <p:nvPr/>
        </p:nvCxnSpPr>
        <p:spPr>
          <a:xfrm flipH="1">
            <a:off x="8081158" y="4611400"/>
            <a:ext cx="1419102" cy="13737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5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AA51-8290-4B63-A829-44283172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Phase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2151-DEE8-0B02-55C5-7937427CD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Decreases longitudinal momentum spread at the cost of increasing longitudinal position spread (longitudinal emittance unchanged)</a:t>
            </a:r>
          </a:p>
          <a:p>
            <a:r>
              <a:rPr lang="en-US" b="1" dirty="0"/>
              <a:t>Drift channel</a:t>
            </a:r>
            <a:r>
              <a:rPr lang="en-US" dirty="0"/>
              <a:t>: faster muons outpace slower ones</a:t>
            </a:r>
          </a:p>
          <a:p>
            <a:r>
              <a:rPr lang="en-US" b="1" dirty="0"/>
              <a:t>RF cavity</a:t>
            </a:r>
            <a:r>
              <a:rPr lang="en-US" dirty="0"/>
              <a:t>: apply time-varying E field to accelerate faster muons and decelerate slower muons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4364709-9BFC-D30F-786E-041DE9FE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A8F3035-2336-86E5-2391-778B468C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 descr="A yellow and orange lines&#10;&#10;AI-generated content may be incorrect.">
            <a:extLst>
              <a:ext uri="{FF2B5EF4-FFF2-40B4-BE49-F238E27FC236}">
                <a16:creationId xmlns:a16="http://schemas.microsoft.com/office/drawing/2014/main" id="{D601132B-9107-90E5-9C5E-7A8A2C39D4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44" y="4115864"/>
            <a:ext cx="8949111" cy="2266660"/>
          </a:xfrm>
          <a:prstGeom prst="rect">
            <a:avLst/>
          </a:prstGeom>
        </p:spPr>
      </p:pic>
      <p:pic>
        <p:nvPicPr>
          <p:cNvPr id="10" name="Picture 9" descr="A yellow and orange lines&#10;&#10;AI-generated content may be incorrect.">
            <a:extLst>
              <a:ext uri="{FF2B5EF4-FFF2-40B4-BE49-F238E27FC236}">
                <a16:creationId xmlns:a16="http://schemas.microsoft.com/office/drawing/2014/main" id="{8B580EDE-6DB4-7830-E412-DB50149D6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5" r="19466"/>
          <a:stretch/>
        </p:blipFill>
        <p:spPr>
          <a:xfrm>
            <a:off x="4881093" y="4115864"/>
            <a:ext cx="3947376" cy="226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31121-F1A8-662C-53B0-E3517F4D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3DBF1-D5B0-13A7-A3BC-32B1F5CB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Phase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FF91-22B4-4CAE-8EFD-4C410562F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Decreases longitudinal momentum spread at the cost of increasing longitudinal position spread (longitudinal emittance unchanged)</a:t>
            </a:r>
          </a:p>
          <a:p>
            <a:r>
              <a:rPr lang="en-US" b="1" dirty="0"/>
              <a:t>Drift channel</a:t>
            </a:r>
            <a:r>
              <a:rPr lang="en-US" dirty="0"/>
              <a:t>: faster muons outpace slower ones</a:t>
            </a:r>
          </a:p>
          <a:p>
            <a:r>
              <a:rPr lang="en-US" b="1" dirty="0"/>
              <a:t>RF cavity</a:t>
            </a:r>
            <a:r>
              <a:rPr lang="en-US" dirty="0"/>
              <a:t>: apply time-varying E field to accelerate faster muons and decelerate slower muons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C8FCC-B466-AB9F-2A39-FBB61657C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190" y="4146436"/>
            <a:ext cx="2243448" cy="2243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CF1233-16ED-E811-6D4A-C7A027E48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20" y="4146437"/>
            <a:ext cx="2243447" cy="2243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B9A4E-F30E-3AA3-11D0-20C08FB43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5961" y="4146436"/>
            <a:ext cx="2243448" cy="224344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A63DE740-D2C0-4253-9C2D-F9213B964854}"/>
              </a:ext>
            </a:extLst>
          </p:cNvPr>
          <p:cNvSpPr/>
          <p:nvPr/>
        </p:nvSpPr>
        <p:spPr>
          <a:xfrm>
            <a:off x="3630617" y="4841399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715B4EA-8608-F7F7-F716-8F26CE61EB4F}"/>
              </a:ext>
            </a:extLst>
          </p:cNvPr>
          <p:cNvSpPr/>
          <p:nvPr/>
        </p:nvSpPr>
        <p:spPr>
          <a:xfrm>
            <a:off x="7097767" y="4840731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3817FD7-BCFA-CBDE-5FC5-DC7C85C9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4EA008F-E1E6-505F-2CF9-70F304C7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5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33C6-8076-6B96-EE2F-B7860FB0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C77E-E7A1-8954-F018-0079975E1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537369" cy="26106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 studied this method at Fermilab in Summer 2023</a:t>
            </a:r>
          </a:p>
          <a:p>
            <a:r>
              <a:rPr lang="en-US" dirty="0"/>
              <a:t>Used simulation software G4Beamline and optimized wedge parameters (length, half-angle) using Nelder-Mead method</a:t>
            </a:r>
          </a:p>
          <a:p>
            <a:r>
              <a:rPr lang="en-US" dirty="0"/>
              <a:t>Found that lower emittances can be achieved compared to other cooling methods proposed</a:t>
            </a:r>
          </a:p>
          <a:p>
            <a:r>
              <a:rPr lang="en-US" dirty="0"/>
              <a:t>Substantial assumptions made; portions left unmodeled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219C-4B92-0A10-1745-FA509C8F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FAFA-A22C-854B-37D9-4B0B152D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16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C55B45-259A-BEAD-5D0A-D615C88C39D1}"/>
              </a:ext>
            </a:extLst>
          </p:cNvPr>
          <p:cNvSpPr txBox="1"/>
          <p:nvPr/>
        </p:nvSpPr>
        <p:spPr>
          <a:xfrm>
            <a:off x="8194261" y="4436258"/>
            <a:ext cx="329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Green</a:t>
            </a:r>
            <a:r>
              <a:rPr lang="en-US" dirty="0"/>
              <a:t>: Modeled in summer 2023</a:t>
            </a:r>
          </a:p>
        </p:txBody>
      </p:sp>
      <p:pic>
        <p:nvPicPr>
          <p:cNvPr id="21" name="Picture 20" descr="A purple and grey object with a light coming out of it&#10;&#10;Description automatically generated">
            <a:extLst>
              <a:ext uri="{FF2B5EF4-FFF2-40B4-BE49-F238E27FC236}">
                <a16:creationId xmlns:a16="http://schemas.microsoft.com/office/drawing/2014/main" id="{C9CBA82C-A6D0-98DA-93C8-8CB592FA7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827" y="1201891"/>
            <a:ext cx="2018610" cy="24243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760F2F-62D6-30C8-2483-82D112082090}"/>
              </a:ext>
            </a:extLst>
          </p:cNvPr>
          <p:cNvSpPr txBox="1"/>
          <p:nvPr/>
        </p:nvSpPr>
        <p:spPr>
          <a:xfrm>
            <a:off x="9804827" y="3626241"/>
            <a:ext cx="2018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Example G4Beamline simulation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8C1EB0-56BD-F7E9-226A-E6B5D4DCF462}"/>
              </a:ext>
            </a:extLst>
          </p:cNvPr>
          <p:cNvGrpSpPr/>
          <p:nvPr/>
        </p:nvGrpSpPr>
        <p:grpSpPr>
          <a:xfrm>
            <a:off x="738031" y="4436899"/>
            <a:ext cx="7098169" cy="1797848"/>
            <a:chOff x="738031" y="4436899"/>
            <a:chExt cx="7098169" cy="1797848"/>
          </a:xfrm>
        </p:grpSpPr>
        <p:pic>
          <p:nvPicPr>
            <p:cNvPr id="7" name="Picture 6" descr="A yellow and orange lines&#10;&#10;AI-generated content may be incorrect.">
              <a:extLst>
                <a:ext uri="{FF2B5EF4-FFF2-40B4-BE49-F238E27FC236}">
                  <a16:creationId xmlns:a16="http://schemas.microsoft.com/office/drawing/2014/main" id="{5C8A65CD-6E38-50CF-BEC4-6CACE88E5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" y="4436899"/>
              <a:ext cx="7098169" cy="179784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51123E-0DE3-7D66-8F45-A3DF1F011AC9}"/>
                </a:ext>
              </a:extLst>
            </p:cNvPr>
            <p:cNvSpPr/>
            <p:nvPr/>
          </p:nvSpPr>
          <p:spPr>
            <a:xfrm>
              <a:off x="1120847" y="4609814"/>
              <a:ext cx="755816" cy="1218927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B1B79F-82AE-B9D7-BF80-7E4683ED9EFA}"/>
                </a:ext>
              </a:extLst>
            </p:cNvPr>
            <p:cNvSpPr/>
            <p:nvPr/>
          </p:nvSpPr>
          <p:spPr>
            <a:xfrm>
              <a:off x="6735651" y="4687909"/>
              <a:ext cx="663262" cy="1062507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29B3FF-4533-A112-A230-8AAB509CD647}"/>
                </a:ext>
              </a:extLst>
            </p:cNvPr>
            <p:cNvSpPr/>
            <p:nvPr/>
          </p:nvSpPr>
          <p:spPr>
            <a:xfrm>
              <a:off x="5432738" y="4571196"/>
              <a:ext cx="944852" cy="1257545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1695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44C1074-7405-5DA3-5088-566E22FAB21B}"/>
              </a:ext>
            </a:extLst>
          </p:cNvPr>
          <p:cNvGrpSpPr/>
          <p:nvPr/>
        </p:nvGrpSpPr>
        <p:grpSpPr>
          <a:xfrm>
            <a:off x="738031" y="4436899"/>
            <a:ext cx="7098169" cy="1797848"/>
            <a:chOff x="738031" y="4436899"/>
            <a:chExt cx="7098169" cy="1797848"/>
          </a:xfrm>
        </p:grpSpPr>
        <p:pic>
          <p:nvPicPr>
            <p:cNvPr id="8" name="Picture 7" descr="A yellow and orange lines&#10;&#10;AI-generated content may be incorrect.">
              <a:extLst>
                <a:ext uri="{FF2B5EF4-FFF2-40B4-BE49-F238E27FC236}">
                  <a16:creationId xmlns:a16="http://schemas.microsoft.com/office/drawing/2014/main" id="{28B8928B-6376-F7B3-B9F4-0CC889F1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" y="4436899"/>
              <a:ext cx="7098169" cy="179784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ECF577-9015-8678-A5A7-077A71B96AC6}"/>
                </a:ext>
              </a:extLst>
            </p:cNvPr>
            <p:cNvSpPr/>
            <p:nvPr/>
          </p:nvSpPr>
          <p:spPr>
            <a:xfrm>
              <a:off x="1120847" y="4609814"/>
              <a:ext cx="755816" cy="1218927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9EB9A-1255-6648-7E6C-E2F246B6122E}"/>
                </a:ext>
              </a:extLst>
            </p:cNvPr>
            <p:cNvSpPr/>
            <p:nvPr/>
          </p:nvSpPr>
          <p:spPr>
            <a:xfrm>
              <a:off x="6735651" y="4687909"/>
              <a:ext cx="663262" cy="1062507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D19F1D-9FFF-F9EB-EFBC-A676A858C930}"/>
                </a:ext>
              </a:extLst>
            </p:cNvPr>
            <p:cNvSpPr/>
            <p:nvPr/>
          </p:nvSpPr>
          <p:spPr>
            <a:xfrm>
              <a:off x="5432738" y="4571196"/>
              <a:ext cx="944852" cy="1257545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0033C6-8076-6B96-EE2F-B7860FB0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C77E-E7A1-8954-F018-0079975E1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998001" cy="3898281"/>
          </a:xfrm>
        </p:spPr>
        <p:txBody>
          <a:bodyPr>
            <a:normAutofit/>
          </a:bodyPr>
          <a:lstStyle/>
          <a:p>
            <a:r>
              <a:rPr lang="en-US" dirty="0"/>
              <a:t>Continued working on this project through 2023-24 academic year</a:t>
            </a:r>
          </a:p>
          <a:p>
            <a:r>
              <a:rPr lang="en-US" dirty="0"/>
              <a:t>Evaluated simulation accuracy </a:t>
            </a:r>
            <a:r>
              <a:rPr lang="en-US" dirty="0" err="1"/>
              <a:t>v.s</a:t>
            </a:r>
            <a:r>
              <a:rPr lang="en-US" dirty="0"/>
              <a:t>. particle count and step size</a:t>
            </a:r>
          </a:p>
          <a:p>
            <a:r>
              <a:rPr lang="en-US" dirty="0"/>
              <a:t>Joined by Ryan Michaud, who modeled the drift channel in MAD-X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219C-4B92-0A10-1745-FA509C8F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FAFA-A22C-854B-37D9-4B0B152D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17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C55B45-259A-BEAD-5D0A-D615C88C39D1}"/>
              </a:ext>
            </a:extLst>
          </p:cNvPr>
          <p:cNvSpPr txBox="1"/>
          <p:nvPr/>
        </p:nvSpPr>
        <p:spPr>
          <a:xfrm>
            <a:off x="8194261" y="4436258"/>
            <a:ext cx="3399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Green</a:t>
            </a:r>
            <a:r>
              <a:rPr lang="en-US" dirty="0"/>
              <a:t>: Modeled in summer 2023</a:t>
            </a:r>
          </a:p>
          <a:p>
            <a:r>
              <a:rPr lang="en-US" b="1" dirty="0">
                <a:solidFill>
                  <a:schemeClr val="accent1"/>
                </a:solidFill>
              </a:rPr>
              <a:t>Blue</a:t>
            </a:r>
            <a:r>
              <a:rPr lang="en-US" dirty="0"/>
              <a:t>: Modeled by Ryan in 2023-24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AEEA69-EA83-7B12-ABD1-A44849E6A772}"/>
              </a:ext>
            </a:extLst>
          </p:cNvPr>
          <p:cNvSpPr/>
          <p:nvPr/>
        </p:nvSpPr>
        <p:spPr>
          <a:xfrm>
            <a:off x="3393583" y="4687909"/>
            <a:ext cx="1989786" cy="103599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person in a red shirt&#10;&#10;Description automatically generated">
            <a:extLst>
              <a:ext uri="{FF2B5EF4-FFF2-40B4-BE49-F238E27FC236}">
                <a16:creationId xmlns:a16="http://schemas.microsoft.com/office/drawing/2014/main" id="{D3E17C86-036C-5583-ADBB-84AFF3689D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9" b="26153"/>
          <a:stretch/>
        </p:blipFill>
        <p:spPr>
          <a:xfrm>
            <a:off x="8536624" y="780054"/>
            <a:ext cx="2817176" cy="28171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81E655-048F-3E83-C9DE-8A2CFC5B54D3}"/>
              </a:ext>
            </a:extLst>
          </p:cNvPr>
          <p:cNvSpPr txBox="1"/>
          <p:nvPr/>
        </p:nvSpPr>
        <p:spPr>
          <a:xfrm>
            <a:off x="8777660" y="3647412"/>
            <a:ext cx="233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Ryan Michaud</a:t>
            </a:r>
          </a:p>
        </p:txBody>
      </p:sp>
    </p:spTree>
    <p:extLst>
      <p:ext uri="{BB962C8B-B14F-4D97-AF65-F5344CB8AC3E}">
        <p14:creationId xmlns:p14="http://schemas.microsoft.com/office/powerpoint/2010/main" val="1698178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AB3D-EA82-267F-8B69-9DACF183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Wedge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1289C-3FD2-F2C6-91FF-369B654A1D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Performed simulations to characterize effect of beta and alpha on wedge performance</a:t>
            </a:r>
          </a:p>
          <a:p>
            <a:r>
              <a:rPr lang="en-US" dirty="0"/>
              <a:t>Varied beta while optimizing wedge length, wedge half-angle, and beam alpha at each point</a:t>
            </a:r>
          </a:p>
          <a:p>
            <a:r>
              <a:rPr lang="en-US" dirty="0"/>
              <a:t>Repeated trials to account for stochastic effects</a:t>
            </a:r>
          </a:p>
          <a:p>
            <a:r>
              <a:rPr lang="en-US" b="1" dirty="0"/>
              <a:t>Minimum emittance attained at beta of around 0.025 m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0E84B-0F2E-56D4-618C-C653C59D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8DBFD-0BFD-97BA-C2B7-7029757F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18</a:t>
            </a:fld>
            <a:endParaRPr lang="en-US"/>
          </a:p>
        </p:txBody>
      </p:sp>
      <p:pic>
        <p:nvPicPr>
          <p:cNvPr id="7" name="Content Placeholder 6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17D9B87D-CDD5-7E0A-5757-DAB371226F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199"/>
          </a:xfrm>
        </p:spPr>
      </p:pic>
    </p:spTree>
    <p:extLst>
      <p:ext uri="{BB962C8B-B14F-4D97-AF65-F5344CB8AC3E}">
        <p14:creationId xmlns:p14="http://schemas.microsoft.com/office/powerpoint/2010/main" val="427715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with a line&#10;&#10;AI-generated content may be incorrect.">
            <a:extLst>
              <a:ext uri="{FF2B5EF4-FFF2-40B4-BE49-F238E27FC236}">
                <a16:creationId xmlns:a16="http://schemas.microsoft.com/office/drawing/2014/main" id="{F1572B11-0134-E274-0BBB-EDD07C35A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8694"/>
            <a:ext cx="10515600" cy="3505199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C4733-8259-D91D-7428-F1ED37A3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E892E-3A5D-EDC5-F522-1B418EAE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6D8588-8F35-8566-C18F-17F5C2D9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Wedge</a:t>
            </a:r>
          </a:p>
        </p:txBody>
      </p:sp>
    </p:spTree>
    <p:extLst>
      <p:ext uri="{BB962C8B-B14F-4D97-AF65-F5344CB8AC3E}">
        <p14:creationId xmlns:p14="http://schemas.microsoft.com/office/powerpoint/2010/main" val="2656740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76A342-36B8-CD73-5FB0-4FC9654E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2583"/>
          </a:xfrm>
        </p:spPr>
        <p:txBody>
          <a:bodyPr/>
          <a:lstStyle/>
          <a:p>
            <a:r>
              <a:rPr lang="en-US" dirty="0"/>
              <a:t>Quadrupoles focus beam in one axis and defocus in another</a:t>
            </a:r>
          </a:p>
          <a:p>
            <a:r>
              <a:rPr lang="en-US" dirty="0"/>
              <a:t>Alternating quadrupoles achieve focusing in both axes</a:t>
            </a:r>
          </a:p>
          <a:p>
            <a:r>
              <a:rPr lang="en-US" dirty="0"/>
              <a:t>Called a </a:t>
            </a:r>
            <a:r>
              <a:rPr lang="en-US" b="1" dirty="0"/>
              <a:t>FODO</a:t>
            </a:r>
            <a:r>
              <a:rPr lang="en-US" dirty="0"/>
              <a:t> (focus-open-defocus-open) array</a:t>
            </a:r>
          </a:p>
          <a:p>
            <a:r>
              <a:rPr lang="en-US" dirty="0"/>
              <a:t>Each repeating cell should be periodic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73146-6E49-7F1D-E43A-A97DDB05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CE128-4C99-E8E3-DF94-779CDE6A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176E3A-AB8C-2A74-5C93-1EA5A58A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Drift Channel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AABF3-8597-0568-C8DF-996D6C0CF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" t="17661" r="56947" b="19268"/>
          <a:stretch/>
        </p:blipFill>
        <p:spPr>
          <a:xfrm>
            <a:off x="437881" y="4642833"/>
            <a:ext cx="7926957" cy="866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36D7A2-1639-F166-2080-E3CCD58271FA}"/>
              </a:ext>
            </a:extLst>
          </p:cNvPr>
          <p:cNvSpPr txBox="1"/>
          <p:nvPr/>
        </p:nvSpPr>
        <p:spPr>
          <a:xfrm>
            <a:off x="3066075" y="4255541"/>
            <a:ext cx="257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Model of a FODO array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412B642-B323-DA0A-D9AF-8994C921A009}"/>
              </a:ext>
            </a:extLst>
          </p:cNvPr>
          <p:cNvSpPr/>
          <p:nvPr/>
        </p:nvSpPr>
        <p:spPr>
          <a:xfrm rot="5400000">
            <a:off x="1382802" y="4825892"/>
            <a:ext cx="309626" cy="1708910"/>
          </a:xfrm>
          <a:prstGeom prst="rightBrace">
            <a:avLst>
              <a:gd name="adj1" fmla="val 5604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0F45CAC-987F-2FAE-CC0E-F942DF56F926}"/>
              </a:ext>
            </a:extLst>
          </p:cNvPr>
          <p:cNvSpPr/>
          <p:nvPr/>
        </p:nvSpPr>
        <p:spPr>
          <a:xfrm rot="5400000">
            <a:off x="3159176" y="4825892"/>
            <a:ext cx="309626" cy="1708910"/>
          </a:xfrm>
          <a:prstGeom prst="rightBrace">
            <a:avLst>
              <a:gd name="adj1" fmla="val 5604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A00373-D4C2-336D-B6C2-E34F94E8A300}"/>
              </a:ext>
            </a:extLst>
          </p:cNvPr>
          <p:cNvSpPr txBox="1"/>
          <p:nvPr/>
        </p:nvSpPr>
        <p:spPr>
          <a:xfrm>
            <a:off x="629007" y="5838766"/>
            <a:ext cx="1887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Beam converging in x,</a:t>
            </a:r>
            <a:br>
              <a:rPr lang="en-US" sz="1200" dirty="0"/>
            </a:br>
            <a:r>
              <a:rPr lang="en-US" sz="1200" dirty="0"/>
              <a:t>diverging in 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D43C4-E55C-BC44-2107-FDA256E5F0CA}"/>
              </a:ext>
            </a:extLst>
          </p:cNvPr>
          <p:cNvSpPr txBox="1"/>
          <p:nvPr/>
        </p:nvSpPr>
        <p:spPr>
          <a:xfrm>
            <a:off x="2459534" y="5851208"/>
            <a:ext cx="1708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Beam diverging in x, converging in y</a:t>
            </a:r>
          </a:p>
        </p:txBody>
      </p:sp>
      <p:pic>
        <p:nvPicPr>
          <p:cNvPr id="12" name="Picture 11" descr="A diagram of a light bulb&#10;&#10;AI-generated content may be incorrect.">
            <a:extLst>
              <a:ext uri="{FF2B5EF4-FFF2-40B4-BE49-F238E27FC236}">
                <a16:creationId xmlns:a16="http://schemas.microsoft.com/office/drawing/2014/main" id="{F6B048CF-863E-AACB-B2A7-095DFE119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693" y="3571103"/>
            <a:ext cx="2868146" cy="2708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A0C5B7-C274-8CDE-EA6F-8FB3821C5679}"/>
              </a:ext>
            </a:extLst>
          </p:cNvPr>
          <p:cNvSpPr txBox="1"/>
          <p:nvPr/>
        </p:nvSpPr>
        <p:spPr>
          <a:xfrm>
            <a:off x="8158768" y="3236111"/>
            <a:ext cx="3637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Diagram of a quadrupole magnet</a:t>
            </a:r>
          </a:p>
        </p:txBody>
      </p:sp>
    </p:spTree>
    <p:extLst>
      <p:ext uri="{BB962C8B-B14F-4D97-AF65-F5344CB8AC3E}">
        <p14:creationId xmlns:p14="http://schemas.microsoft.com/office/powerpoint/2010/main" val="2454713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DC84-4CA5-04F9-F9C0-5A8ECD29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MAD-X and G4Beamline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756D3-67AA-6E03-98AF-AF65F6905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G4Beamline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7154B-3479-42EC-170E-A65D73B79D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Tracks many individual particles</a:t>
            </a:r>
          </a:p>
          <a:p>
            <a:r>
              <a:rPr lang="en-US" dirty="0"/>
              <a:t>Considers all distribution parameters</a:t>
            </a:r>
          </a:p>
          <a:p>
            <a:r>
              <a:rPr lang="en-US" dirty="0"/>
              <a:t>Detailed magnetic fields</a:t>
            </a:r>
          </a:p>
          <a:p>
            <a:r>
              <a:rPr lang="en-US" dirty="0"/>
              <a:t>Not easy to perform optimization</a:t>
            </a:r>
          </a:p>
          <a:p>
            <a:r>
              <a:rPr lang="en-US" dirty="0"/>
              <a:t>Magnet strength measured in B field gradients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94BFB-31C8-FFD2-D4AD-1B3DEEC78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MAD-X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59BE1-3F23-19BA-ACE0-3D75F7185B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Tracks distributions of particles</a:t>
            </a:r>
          </a:p>
          <a:p>
            <a:r>
              <a:rPr lang="en-US" dirty="0"/>
              <a:t>Only beta/alpha considered</a:t>
            </a:r>
          </a:p>
          <a:p>
            <a:r>
              <a:rPr lang="en-US" dirty="0"/>
              <a:t>Approximations for magnets</a:t>
            </a:r>
          </a:p>
          <a:p>
            <a:r>
              <a:rPr lang="en-US" dirty="0"/>
              <a:t>Fast optimization for magnets</a:t>
            </a:r>
          </a:p>
          <a:p>
            <a:r>
              <a:rPr lang="en-US" dirty="0"/>
              <a:t>Magnet strength described by quadrupole coefficient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81EABB-98A6-C6FD-140E-F7B62337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5C52B7-AD89-9B66-B8D1-B4A21880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5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4D67-4DBF-AEA8-1737-87B80BD8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channel in G4Beamline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2BB5E-4686-B5B6-95D7-C113C6E47B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Translated design of periodic FODO cell from MAD-X to G4Beamline</a:t>
            </a:r>
          </a:p>
          <a:p>
            <a:r>
              <a:rPr lang="en-US" dirty="0"/>
              <a:t>Converted quadrupole coefficients to B field gradients</a:t>
            </a:r>
          </a:p>
          <a:p>
            <a:r>
              <a:rPr lang="en-US" dirty="0"/>
              <a:t>Found discrepancies between MAD-X and G4Beamline results</a:t>
            </a:r>
          </a:p>
        </p:txBody>
      </p:sp>
      <p:pic>
        <p:nvPicPr>
          <p:cNvPr id="5" name="Content Placeholder 4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3744F94F-69BB-ADA8-953A-5F346F81D3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474632"/>
            <a:ext cx="5655831" cy="4524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C63FDF-A27C-472B-90AB-55913042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876" y="4941395"/>
            <a:ext cx="2742094" cy="123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47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0E1A-8848-65E0-2190-4EB80126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FODO cell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72F93-D98A-0A7E-EC06-33D867F1D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717625" cy="4351338"/>
          </a:xfrm>
        </p:spPr>
        <p:txBody>
          <a:bodyPr>
            <a:normAutofit/>
          </a:bodyPr>
          <a:lstStyle/>
          <a:p>
            <a:r>
              <a:rPr lang="en-US" dirty="0"/>
              <a:t>MAD-X does not account for fringe fields, but G4Beamline does</a:t>
            </a:r>
          </a:p>
          <a:p>
            <a:r>
              <a:rPr lang="en-US" dirty="0"/>
              <a:t>Using a different layout (shown below) in G4Beamline produced better results</a:t>
            </a:r>
          </a:p>
          <a:p>
            <a:r>
              <a:rPr lang="en-US" dirty="0"/>
              <a:t>However, models still do not match</a:t>
            </a:r>
          </a:p>
          <a:p>
            <a:endParaRPr lang="en-US" dirty="0"/>
          </a:p>
        </p:txBody>
      </p:sp>
      <p:pic>
        <p:nvPicPr>
          <p:cNvPr id="5" name="Content Placeholder 4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CDACD65D-ACA0-E7CC-088B-3FE84B7D4D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824" y="1510864"/>
            <a:ext cx="5181600" cy="4145281"/>
          </a:xfrm>
          <a:prstGeom prst="rect">
            <a:avLst/>
          </a:prstGeom>
        </p:spPr>
      </p:pic>
      <p:pic>
        <p:nvPicPr>
          <p:cNvPr id="9" name="Picture 8" descr="A green and orange squares with black text&#10;&#10;AI-generated content may be incorrect.">
            <a:extLst>
              <a:ext uri="{FF2B5EF4-FFF2-40B4-BE49-F238E27FC236}">
                <a16:creationId xmlns:a16="http://schemas.microsoft.com/office/drawing/2014/main" id="{2F212C2F-E192-BC31-24DB-0D43972EF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0"/>
          <a:stretch/>
        </p:blipFill>
        <p:spPr>
          <a:xfrm>
            <a:off x="315533" y="5054958"/>
            <a:ext cx="6181859" cy="951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13EBED-20EB-1D13-06AF-8B70F29A851F}"/>
              </a:ext>
            </a:extLst>
          </p:cNvPr>
          <p:cNvSpPr txBox="1"/>
          <p:nvPr/>
        </p:nvSpPr>
        <p:spPr>
          <a:xfrm>
            <a:off x="792051" y="4685626"/>
            <a:ext cx="2232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in G4Beamline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0B736-3174-8C90-3A02-C20A417BE40A}"/>
              </a:ext>
            </a:extLst>
          </p:cNvPr>
          <p:cNvSpPr txBox="1"/>
          <p:nvPr/>
        </p:nvSpPr>
        <p:spPr>
          <a:xfrm>
            <a:off x="4202806" y="4685626"/>
            <a:ext cx="175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in MAD-X</a:t>
            </a:r>
          </a:p>
        </p:txBody>
      </p:sp>
    </p:spTree>
    <p:extLst>
      <p:ext uri="{BB962C8B-B14F-4D97-AF65-F5344CB8AC3E}">
        <p14:creationId xmlns:p14="http://schemas.microsoft.com/office/powerpoint/2010/main" val="3773221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DB3A-6F40-D85C-08F7-F34DEC0A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Magnet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3DB7-8D76-FC41-694B-4D947D6BD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Ran optimization to minimize difference in beta in G4Beamline</a:t>
            </a:r>
          </a:p>
          <a:p>
            <a:r>
              <a:rPr lang="en-US" dirty="0"/>
              <a:t>Found a slightly lower magnetic field gradient than in MAD-X (5.932 T/m vs. 6.667 T/m)</a:t>
            </a:r>
          </a:p>
          <a:p>
            <a:r>
              <a:rPr lang="en-US" dirty="0"/>
              <a:t>Beta curves match closely, but alpha curves differ</a:t>
            </a:r>
          </a:p>
          <a:p>
            <a:r>
              <a:rPr lang="en-US" dirty="0"/>
              <a:t>Unsure why this difference exists</a:t>
            </a:r>
          </a:p>
        </p:txBody>
      </p:sp>
      <p:pic>
        <p:nvPicPr>
          <p:cNvPr id="10" name="Content Placeholder 9" descr="A group of graphs showing different types of food cells&#10;&#10;AI-generated content may be incorrect.">
            <a:extLst>
              <a:ext uri="{FF2B5EF4-FFF2-40B4-BE49-F238E27FC236}">
                <a16:creationId xmlns:a16="http://schemas.microsoft.com/office/drawing/2014/main" id="{2BD76200-E528-74CC-6724-F09A3BFE7C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619563"/>
            <a:ext cx="5490765" cy="4392613"/>
          </a:xfrm>
        </p:spPr>
      </p:pic>
    </p:spTree>
    <p:extLst>
      <p:ext uri="{BB962C8B-B14F-4D97-AF65-F5344CB8AC3E}">
        <p14:creationId xmlns:p14="http://schemas.microsoft.com/office/powerpoint/2010/main" val="3668393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5290-942E-315A-250D-95078F79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Magnet Gradients</a:t>
            </a:r>
          </a:p>
        </p:txBody>
      </p:sp>
      <p:pic>
        <p:nvPicPr>
          <p:cNvPr id="8" name="Content Placeholder 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C50F998-43FF-D75A-DC0A-CCC8FD11C7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054" y="1394931"/>
            <a:ext cx="6065950" cy="454946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4E8EA-DAC1-297E-DA56-B20E4616E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593056"/>
            <a:ext cx="4165241" cy="4351338"/>
          </a:xfrm>
        </p:spPr>
        <p:txBody>
          <a:bodyPr/>
          <a:lstStyle/>
          <a:p>
            <a:r>
              <a:rPr lang="en-US" dirty="0"/>
              <a:t>Ran optimization at different momentums</a:t>
            </a:r>
          </a:p>
          <a:p>
            <a:r>
              <a:rPr lang="en-US" dirty="0"/>
              <a:t>Difference between MAD-X and G4Beamline values seems linear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BD392-AFA6-5143-032B-1348DFBA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FDF7C-271B-AEDE-1EEA-7528708F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1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52E6-BCFD-5BF0-541E-84C50391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Entire drift channel</a:t>
            </a:r>
          </a:p>
        </p:txBody>
      </p:sp>
      <p:pic>
        <p:nvPicPr>
          <p:cNvPr id="10" name="Content Placeholder 9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E75106E0-DA8B-82CC-92C2-2C2F58CCA3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37" y="1796480"/>
            <a:ext cx="5801932" cy="4351449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1B38-A605-0285-804B-A230919D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4889A-A07A-2B50-B3FF-DBB478C6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26</a:t>
            </a:fld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FB02679-9F13-420A-4C62-0E3DFA335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5272" y="1825625"/>
            <a:ext cx="4418527" cy="4351338"/>
          </a:xfrm>
        </p:spPr>
        <p:txBody>
          <a:bodyPr/>
          <a:lstStyle/>
          <a:p>
            <a:r>
              <a:rPr lang="en-US" dirty="0"/>
              <a:t>11 periodic cells combined into full channel</a:t>
            </a:r>
          </a:p>
          <a:p>
            <a:r>
              <a:rPr lang="en-US" dirty="0"/>
              <a:t>Used values typical for beam after first wedge</a:t>
            </a:r>
          </a:p>
          <a:p>
            <a:r>
              <a:rPr lang="en-US" dirty="0"/>
              <a:t>Beta, alpha, and emittance values behave as expected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96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B2FC0-3F12-DC51-544D-380F36FA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C43D-B711-AFF3-A54F-F0131623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Entire drift channel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4450B-8F88-FEE3-D408-FA802971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3B2CB-575F-94F4-A3D9-83A9C77C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9DBFF-C646-0ABD-7E3F-ADEAC9DB9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18279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Compared distribution before and after channel</a:t>
            </a:r>
          </a:p>
          <a:p>
            <a:r>
              <a:rPr lang="en-US" dirty="0"/>
              <a:t>Also compared to approximation used in 2023</a:t>
            </a:r>
          </a:p>
          <a:p>
            <a:r>
              <a:rPr lang="en-US" dirty="0"/>
              <a:t>Distributions in x and y appear to be preserved</a:t>
            </a:r>
          </a:p>
          <a:p>
            <a:r>
              <a:rPr lang="en-US" dirty="0"/>
              <a:t>Correlation develops between longitudinal position + momentum</a:t>
            </a:r>
          </a:p>
          <a:p>
            <a:r>
              <a:rPr lang="en-US" dirty="0"/>
              <a:t>Results closely match approximation</a:t>
            </a:r>
          </a:p>
        </p:txBody>
      </p:sp>
      <p:pic>
        <p:nvPicPr>
          <p:cNvPr id="11" name="Content Placeholder 10" descr="A collage of images of a graph&#10;&#10;AI-generated content may be incorrect.">
            <a:extLst>
              <a:ext uri="{FF2B5EF4-FFF2-40B4-BE49-F238E27FC236}">
                <a16:creationId xmlns:a16="http://schemas.microsoft.com/office/drawing/2014/main" id="{2133E425-B8D6-724C-3734-CB995ED166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029" y="882204"/>
            <a:ext cx="5294760" cy="5294760"/>
          </a:xfrm>
        </p:spPr>
      </p:pic>
    </p:spTree>
    <p:extLst>
      <p:ext uri="{BB962C8B-B14F-4D97-AF65-F5344CB8AC3E}">
        <p14:creationId xmlns:p14="http://schemas.microsoft.com/office/powerpoint/2010/main" val="456332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6D36B2-C204-3D19-67F6-CBB437A02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1439"/>
          </a:xfrm>
        </p:spPr>
        <p:txBody>
          <a:bodyPr/>
          <a:lstStyle/>
          <a:p>
            <a:r>
              <a:rPr lang="en-US" dirty="0"/>
              <a:t>Characterized effect of beta and alpha on wedge</a:t>
            </a:r>
          </a:p>
          <a:p>
            <a:r>
              <a:rPr lang="en-US" dirty="0"/>
              <a:t>Determined that an optimal beta value exists</a:t>
            </a:r>
          </a:p>
          <a:p>
            <a:r>
              <a:rPr lang="en-US" dirty="0"/>
              <a:t>Found discrepancies between MAD-X and G4Beamline simulations of drift channel</a:t>
            </a:r>
          </a:p>
          <a:p>
            <a:r>
              <a:rPr lang="en-US" dirty="0"/>
              <a:t>Produced functional drift channel in G4Beamline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A6AB2-EE83-7812-17A6-2DE8540A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FCD51-A7DB-FC7A-E626-BBD841EF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D627C7-1807-66E8-E214-53442471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pic>
        <p:nvPicPr>
          <p:cNvPr id="7" name="Picture 6" descr="A yellow and orange lines&#10;&#10;AI-generated content may be incorrect.">
            <a:extLst>
              <a:ext uri="{FF2B5EF4-FFF2-40B4-BE49-F238E27FC236}">
                <a16:creationId xmlns:a16="http://schemas.microsoft.com/office/drawing/2014/main" id="{06CB4615-21E7-B74D-FBBC-EC6FAE355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94" y="4357064"/>
            <a:ext cx="7491211" cy="189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38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0ED3-FBC5-8799-C8F4-86B3D0A4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BF418-A862-0EB3-8423-BB492D5E7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1439"/>
          </a:xfrm>
        </p:spPr>
        <p:txBody>
          <a:bodyPr>
            <a:normAutofit/>
          </a:bodyPr>
          <a:lstStyle/>
          <a:p>
            <a:r>
              <a:rPr lang="en-US" dirty="0"/>
              <a:t>Design:</a:t>
            </a:r>
          </a:p>
          <a:p>
            <a:pPr lvl="1"/>
            <a:r>
              <a:rPr lang="en-US" dirty="0"/>
              <a:t>Focusing solenoids around wedges</a:t>
            </a:r>
          </a:p>
          <a:p>
            <a:pPr lvl="1"/>
            <a:r>
              <a:rPr lang="en-US" dirty="0"/>
              <a:t>Quadrupole lattice around RF cavity</a:t>
            </a:r>
          </a:p>
          <a:p>
            <a:pPr lvl="1"/>
            <a:r>
              <a:rPr lang="en-US" dirty="0"/>
              <a:t>Bending magnet(s)</a:t>
            </a:r>
          </a:p>
          <a:p>
            <a:r>
              <a:rPr lang="en-US" dirty="0"/>
              <a:t>Continue investigating MAD-X </a:t>
            </a:r>
            <a:r>
              <a:rPr lang="en-US" dirty="0" err="1"/>
              <a:t>v.s</a:t>
            </a:r>
            <a:r>
              <a:rPr lang="en-US" dirty="0"/>
              <a:t>. G4Beamline </a:t>
            </a:r>
            <a:r>
              <a:rPr lang="en-US" dirty="0" err="1"/>
              <a:t>discrepencies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BD8E0-B207-967B-07F2-C0BE50FF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BCABA-5012-3439-3CBF-F0AAA800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02F9DC-0933-3864-D28A-AB34D1F4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pic>
        <p:nvPicPr>
          <p:cNvPr id="7" name="Picture 6" descr="A yellow and orange lines&#10;&#10;AI-generated content may be incorrect.">
            <a:extLst>
              <a:ext uri="{FF2B5EF4-FFF2-40B4-BE49-F238E27FC236}">
                <a16:creationId xmlns:a16="http://schemas.microsoft.com/office/drawing/2014/main" id="{B17189DD-E5B1-3CFE-841B-E2D1D311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94" y="4357064"/>
            <a:ext cx="7491211" cy="189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48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AB31E4-2A06-4810-1F0B-97413FAC7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Karri </a:t>
            </a:r>
            <a:r>
              <a:rPr lang="en-US" dirty="0" err="1"/>
              <a:t>DiPetrillo</a:t>
            </a:r>
            <a:endParaRPr lang="en-US" dirty="0"/>
          </a:p>
          <a:p>
            <a:r>
              <a:rPr lang="en-US" dirty="0"/>
              <a:t>Diktys Stratakis</a:t>
            </a:r>
          </a:p>
          <a:p>
            <a:r>
              <a:rPr lang="en-US" dirty="0"/>
              <a:t>David Neuffer</a:t>
            </a:r>
          </a:p>
          <a:p>
            <a:r>
              <a:rPr lang="en-US" dirty="0"/>
              <a:t>Ryan Michaud</a:t>
            </a:r>
          </a:p>
          <a:p>
            <a:r>
              <a:rPr lang="en-US" dirty="0"/>
              <a:t>Eliana Gianfelice-Wendt</a:t>
            </a:r>
          </a:p>
          <a:p>
            <a:r>
              <a:rPr lang="en-US" dirty="0"/>
              <a:t>Anthony Badea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51100-DB9E-1793-D269-E781C80D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1BF99-47F7-2A9B-0AB1-87BE0DBE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10D35A-735E-FD41-60B6-E556EC34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1825843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707EA-CAB4-9D7A-5CE0-D3ACDB69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9843-8D8A-4C3F-AAF2-7F926ECF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89FC4F-31E6-6372-E15A-66965567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1932633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CFF2-FE38-FCB4-90C4-2EEE5A6B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C8DA-99F8-F891-4E6F-A39F9C29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Baseline Graphs</a:t>
            </a:r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9C61C88E-B922-1112-84BA-7EBF2420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8" y="1690688"/>
            <a:ext cx="5674507" cy="4309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C9F39D-3391-C7B5-C9BF-03E5E5076382}"/>
              </a:ext>
            </a:extLst>
          </p:cNvPr>
          <p:cNvSpPr txBox="1"/>
          <p:nvPr/>
        </p:nvSpPr>
        <p:spPr>
          <a:xfrm>
            <a:off x="2750414" y="5985898"/>
            <a:ext cx="210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1612.08960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4FC7B-009F-E4F5-6DF5-3AAA33DF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F760B-3E7E-A0BB-83DE-6FA69DCF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BC24C331-491F-973B-4883-53A9E92C9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858" y="2067005"/>
            <a:ext cx="4859333" cy="3557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AD21B-8BC4-4632-20B1-164DF8BA7DF9}"/>
              </a:ext>
            </a:extLst>
          </p:cNvPr>
          <p:cNvSpPr txBox="1"/>
          <p:nvPr/>
        </p:nvSpPr>
        <p:spPr>
          <a:xfrm>
            <a:off x="8608907" y="5926522"/>
            <a:ext cx="210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10.1103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97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36E1-5992-48C7-A983-60FD48CA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Wedge Cooling Mechanism</a:t>
            </a:r>
          </a:p>
        </p:txBody>
      </p:sp>
      <p:pic>
        <p:nvPicPr>
          <p:cNvPr id="4" name="Content Placeholder 12" descr="A group of images of light&#10;&#10;Description automatically generated">
            <a:extLst>
              <a:ext uri="{FF2B5EF4-FFF2-40B4-BE49-F238E27FC236}">
                <a16:creationId xmlns:a16="http://schemas.microsoft.com/office/drawing/2014/main" id="{719127E2-0ECA-5AD0-95E6-A5263420B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09"/>
          <a:stretch/>
        </p:blipFill>
        <p:spPr>
          <a:xfrm>
            <a:off x="362527" y="1533525"/>
            <a:ext cx="4550716" cy="43513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B6D496-2F7A-D49E-5059-50D5A95C6CBB}"/>
              </a:ext>
            </a:extLst>
          </p:cNvPr>
          <p:cNvSpPr txBox="1">
            <a:spLocks/>
          </p:cNvSpPr>
          <p:nvPr/>
        </p:nvSpPr>
        <p:spPr>
          <a:xfrm>
            <a:off x="1600201" y="5867245"/>
            <a:ext cx="8699500" cy="52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Momentum spread must be reduced before second wedge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83FCA-2E82-6D2B-FAA1-10EE69B2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645D9-779C-EF68-FB5B-E78BF2D3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72FC9-EA74-3160-AB4A-39B1AE225551}"/>
              </a:ext>
            </a:extLst>
          </p:cNvPr>
          <p:cNvSpPr txBox="1"/>
          <p:nvPr/>
        </p:nvSpPr>
        <p:spPr>
          <a:xfrm>
            <a:off x="5476874" y="1950047"/>
            <a:ext cx="5915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Emittance in axis of wedge (x) decreases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009688-6A11-A2CA-0C4F-F4D713E6F3DC}"/>
              </a:ext>
            </a:extLst>
          </p:cNvPr>
          <p:cNvSpPr txBox="1"/>
          <p:nvPr/>
        </p:nvSpPr>
        <p:spPr>
          <a:xfrm>
            <a:off x="5476874" y="3293695"/>
            <a:ext cx="55657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Emittance in second transverse axis (y) unchanged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C1C43-2E5E-E30E-315B-A9056CD86C92}"/>
              </a:ext>
            </a:extLst>
          </p:cNvPr>
          <p:cNvSpPr txBox="1"/>
          <p:nvPr/>
        </p:nvSpPr>
        <p:spPr>
          <a:xfrm>
            <a:off x="5476874" y="4707213"/>
            <a:ext cx="5915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Emittance in longitudinal (z) axis increases due to increased spread in momentum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2389853-4DE1-F097-DCAF-A40993CF0778}"/>
              </a:ext>
            </a:extLst>
          </p:cNvPr>
          <p:cNvSpPr/>
          <p:nvPr/>
        </p:nvSpPr>
        <p:spPr>
          <a:xfrm>
            <a:off x="5031580" y="2018199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EED9187-32D6-85E1-1311-B8996694E6EA}"/>
              </a:ext>
            </a:extLst>
          </p:cNvPr>
          <p:cNvSpPr/>
          <p:nvPr/>
        </p:nvSpPr>
        <p:spPr>
          <a:xfrm>
            <a:off x="5031580" y="3534172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09D3BFF-0DC5-F7BF-B7C9-1BD516ED0C86}"/>
              </a:ext>
            </a:extLst>
          </p:cNvPr>
          <p:cNvSpPr/>
          <p:nvPr/>
        </p:nvSpPr>
        <p:spPr>
          <a:xfrm>
            <a:off x="5031580" y="4947690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40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DFD7-5953-7EC3-54CA-A5C5FB53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CFD5-A211-DEFB-ED50-DC865D99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work on solenoids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C95B-50F8-F762-7474-F74B32EE29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Particles follow a helical trajectory in a solenoid, leading to focusing</a:t>
            </a:r>
          </a:p>
          <a:p>
            <a:endParaRPr lang="en-US" dirty="0"/>
          </a:p>
        </p:txBody>
      </p:sp>
      <p:pic>
        <p:nvPicPr>
          <p:cNvPr id="10" name="Content Placeholder 9" descr="A graph of a graph of a number of different sizes&#10;&#10;AI-generated content may be incorrect.">
            <a:extLst>
              <a:ext uri="{FF2B5EF4-FFF2-40B4-BE49-F238E27FC236}">
                <a16:creationId xmlns:a16="http://schemas.microsoft.com/office/drawing/2014/main" id="{71F4686C-FC8F-9313-7C6A-ED8ED50413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28654"/>
            <a:ext cx="5181600" cy="414528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DBC98-00C2-F3F0-8E6F-FF98506D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4B9A-1723-616C-F437-F9D697D6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34</a:t>
            </a:fld>
            <a:endParaRPr lang="en-US"/>
          </a:p>
        </p:txBody>
      </p:sp>
      <p:pic>
        <p:nvPicPr>
          <p:cNvPr id="12" name="Picture 11" descr="A diagram of a coil&#10;&#10;AI-generated content may be incorrect.">
            <a:extLst>
              <a:ext uri="{FF2B5EF4-FFF2-40B4-BE49-F238E27FC236}">
                <a16:creationId xmlns:a16="http://schemas.microsoft.com/office/drawing/2014/main" id="{F1B6B3B1-D50E-A87A-BE04-3FCEE9CA9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21117"/>
            <a:ext cx="4578232" cy="235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05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4B0CA-649F-6FED-6D9E-E18E3DE9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E5368-42D3-DA26-8FA0-82495F74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BAB757-5683-20B0-72EF-D472BFF9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momentum spread</a:t>
            </a:r>
          </a:p>
        </p:txBody>
      </p:sp>
      <p:pic>
        <p:nvPicPr>
          <p:cNvPr id="6" name="Content Placeholder 7" descr="A group of graphs showing different types of food cells&#10;&#10;AI-generated content may be incorrect.">
            <a:extLst>
              <a:ext uri="{FF2B5EF4-FFF2-40B4-BE49-F238E27FC236}">
                <a16:creationId xmlns:a16="http://schemas.microsoft.com/office/drawing/2014/main" id="{E53E8921-DCA9-49CC-FACC-D34D15339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414" y="1825625"/>
            <a:ext cx="5439172" cy="4351338"/>
          </a:xfrm>
        </p:spPr>
      </p:pic>
    </p:spTree>
    <p:extLst>
      <p:ext uri="{BB962C8B-B14F-4D97-AF65-F5344CB8AC3E}">
        <p14:creationId xmlns:p14="http://schemas.microsoft.com/office/powerpoint/2010/main" val="2508702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8A5E975F-F8DE-D2B9-612E-9FF229A58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390" y="1825625"/>
            <a:ext cx="6329219" cy="4351338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0D3A8-E228-0D34-2EFB-08ABA340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D3E3E-098F-B494-3FDE-880F5D9E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5B102D-1351-7950-ED91-7E9721B3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momentum</a:t>
            </a:r>
          </a:p>
        </p:txBody>
      </p:sp>
    </p:spTree>
    <p:extLst>
      <p:ext uri="{BB962C8B-B14F-4D97-AF65-F5344CB8AC3E}">
        <p14:creationId xmlns:p14="http://schemas.microsoft.com/office/powerpoint/2010/main" val="3628723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1ADA-074A-8B89-49E9-4132499C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Entire drift channel</a:t>
            </a:r>
          </a:p>
        </p:txBody>
      </p:sp>
      <p:pic>
        <p:nvPicPr>
          <p:cNvPr id="8" name="Content Placeholder 7" descr="A diagram of a graph&#10;&#10;AI-generated content may be incorrect.">
            <a:extLst>
              <a:ext uri="{FF2B5EF4-FFF2-40B4-BE49-F238E27FC236}">
                <a16:creationId xmlns:a16="http://schemas.microsoft.com/office/drawing/2014/main" id="{00CAFDF2-1005-6FD8-2A47-87776A51C5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10" name="Content Placeholder 9" descr="A group of images of different colors&#10;&#10;AI-generated content may be incorrect.">
            <a:extLst>
              <a:ext uri="{FF2B5EF4-FFF2-40B4-BE49-F238E27FC236}">
                <a16:creationId xmlns:a16="http://schemas.microsoft.com/office/drawing/2014/main" id="{60469AF9-3309-FB62-7042-2ED03F4556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979" y="1396237"/>
            <a:ext cx="4932821" cy="4932821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BF9C8-FCDE-D780-5968-BEF48569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F5BBC-F55A-58A8-8387-07A92C88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73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C65E-8EAB-216C-FF19-1B143138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Simulation and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1FA17-4599-BADC-DA5C-C47D63AE6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/>
          <a:lstStyle/>
          <a:p>
            <a:r>
              <a:rPr lang="en-US" dirty="0"/>
              <a:t>Simulated using G4Beamline software</a:t>
            </a:r>
          </a:p>
          <a:p>
            <a:r>
              <a:rPr lang="en-US" dirty="0"/>
              <a:t>Optimization conducted using Nelder-Mead method (</a:t>
            </a:r>
            <a:r>
              <a:rPr lang="en-US" dirty="0" err="1"/>
              <a:t>scipy</a:t>
            </a:r>
            <a:r>
              <a:rPr lang="en-US" dirty="0"/>
              <a:t>)</a:t>
            </a:r>
          </a:p>
          <a:p>
            <a:r>
              <a:rPr lang="en-US" dirty="0"/>
              <a:t>Optimized 1</a:t>
            </a:r>
            <a:r>
              <a:rPr lang="en-US" baseline="30000" dirty="0"/>
              <a:t>st</a:t>
            </a:r>
            <a:r>
              <a:rPr lang="en-US" dirty="0"/>
              <a:t> wedge, drift length, RF cavity, and 2</a:t>
            </a:r>
            <a:r>
              <a:rPr lang="en-US" baseline="30000" dirty="0"/>
              <a:t>nd</a:t>
            </a:r>
            <a:r>
              <a:rPr lang="en-US" dirty="0"/>
              <a:t> wedge sequentially</a:t>
            </a:r>
          </a:p>
        </p:txBody>
      </p:sp>
      <p:pic>
        <p:nvPicPr>
          <p:cNvPr id="8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17E657C2-F47E-92AA-9847-18414C288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304" y="3302401"/>
            <a:ext cx="7507180" cy="30549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E8B1B-9439-769E-E4AE-A32F2922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D7047-D85E-4BEF-144F-BFA9C9A3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A purple and grey object with a light coming out of it&#10;&#10;Description automatically generated">
            <a:extLst>
              <a:ext uri="{FF2B5EF4-FFF2-40B4-BE49-F238E27FC236}">
                <a16:creationId xmlns:a16="http://schemas.microsoft.com/office/drawing/2014/main" id="{A7C16697-C5B5-2ECD-0A5F-B2B010E75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3" y="3617676"/>
            <a:ext cx="2018610" cy="2424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3789B2-3AB0-972D-7F02-A12F6E22553A}"/>
              </a:ext>
            </a:extLst>
          </p:cNvPr>
          <p:cNvSpPr txBox="1"/>
          <p:nvPr/>
        </p:nvSpPr>
        <p:spPr>
          <a:xfrm>
            <a:off x="2624447" y="3675690"/>
            <a:ext cx="1632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Example G4Beamline simulation</a:t>
            </a:r>
          </a:p>
          <a:p>
            <a:endParaRPr lang="en-US" dirty="0"/>
          </a:p>
          <a:p>
            <a:r>
              <a:rPr lang="en-US" dirty="0"/>
              <a:t>Right: Optimal parameters for the first and second wedges</a:t>
            </a:r>
          </a:p>
        </p:txBody>
      </p:sp>
    </p:spTree>
    <p:extLst>
      <p:ext uri="{BB962C8B-B14F-4D97-AF65-F5344CB8AC3E}">
        <p14:creationId xmlns:p14="http://schemas.microsoft.com/office/powerpoint/2010/main" val="4276650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B5ED-5AF6-EDBC-B18A-B5384740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Caveats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060B-FA8C-332D-4D7A-CA51547AB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5199"/>
          </a:xfrm>
        </p:spPr>
        <p:txBody>
          <a:bodyPr>
            <a:normAutofit/>
          </a:bodyPr>
          <a:lstStyle/>
          <a:p>
            <a:r>
              <a:rPr lang="en-US" dirty="0"/>
              <a:t>Magnets for focusing, beam transport, and bending were not designed – idealized versions assumed</a:t>
            </a:r>
          </a:p>
          <a:p>
            <a:pPr lvl="1"/>
            <a:r>
              <a:rPr lang="en-US" dirty="0"/>
              <a:t>Required magnet strengths not precisely known</a:t>
            </a:r>
          </a:p>
          <a:p>
            <a:r>
              <a:rPr lang="en-US" dirty="0"/>
              <a:t>Only longitudinal behavior was considered in the RF cavity</a:t>
            </a:r>
          </a:p>
          <a:p>
            <a:r>
              <a:rPr lang="en-US" dirty="0"/>
              <a:t>Losses from muon decays and inter-particle interactions ignored</a:t>
            </a:r>
          </a:p>
        </p:txBody>
      </p:sp>
      <p:pic>
        <p:nvPicPr>
          <p:cNvPr id="59" name="Content Placeholder 4" descr="A group of white rectangular shapes with black text&#10;&#10;Description automatically generated">
            <a:extLst>
              <a:ext uri="{FF2B5EF4-FFF2-40B4-BE49-F238E27FC236}">
                <a16:creationId xmlns:a16="http://schemas.microsoft.com/office/drawing/2014/main" id="{11950478-391C-BA4D-6E1C-50693FCBE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3" y="3784998"/>
            <a:ext cx="11376024" cy="2844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699356-D025-CF2A-901F-31F96F9B56D1}"/>
              </a:ext>
            </a:extLst>
          </p:cNvPr>
          <p:cNvSpPr txBox="1"/>
          <p:nvPr/>
        </p:nvSpPr>
        <p:spPr>
          <a:xfrm>
            <a:off x="331086" y="5773438"/>
            <a:ext cx="4124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Green</a:t>
            </a:r>
            <a:r>
              <a:rPr lang="en-US" sz="1600" dirty="0"/>
              <a:t>: Step simulated in G4Beamline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Orange</a:t>
            </a:r>
            <a:r>
              <a:rPr lang="en-US" sz="1600" dirty="0"/>
              <a:t>: Step not simulated; assumptions made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362B82-916B-D2AE-01DB-8A8F215F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B25054-BC74-AB10-AD78-A8968A29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56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BCC4C3-9C60-5A33-21F3-12E2029B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Summer 2023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20B0C9-80DA-B53C-2AF5-A2076DB1E188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6245431" cy="2571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Optimized conceptual design</a:t>
            </a:r>
          </a:p>
          <a:p>
            <a:r>
              <a:rPr lang="en-US" dirty="0"/>
              <a:t>Achieved lower transverse emittance (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x</a:t>
            </a:r>
            <a:r>
              <a:rPr lang="en-US" dirty="0"/>
              <a:t>) than previous best results (</a:t>
            </a: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dirty="0"/>
              <a:t>)</a:t>
            </a:r>
          </a:p>
          <a:p>
            <a:r>
              <a:rPr lang="en-US" dirty="0"/>
              <a:t>Demonstrated cooling from first and second wedges</a:t>
            </a:r>
          </a:p>
        </p:txBody>
      </p:sp>
      <p:pic>
        <p:nvPicPr>
          <p:cNvPr id="11" name="emittancePath_RedX_BlueX.pdf" descr="emittancePath_RedX_BlueX.pdf">
            <a:extLst>
              <a:ext uri="{FF2B5EF4-FFF2-40B4-BE49-F238E27FC236}">
                <a16:creationId xmlns:a16="http://schemas.microsoft.com/office/drawing/2014/main" id="{3BE6588C-DB17-772B-AD9C-535A91B08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695" y="549191"/>
            <a:ext cx="4388912" cy="367673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3CE1-088B-A47F-33C5-3B52D15D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E22710-8CB6-5D21-1ADA-46A5C796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40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2CA0A3-A64A-2769-D0B2-9B430BCBBEF9}"/>
              </a:ext>
            </a:extLst>
          </p:cNvPr>
          <p:cNvGrpSpPr/>
          <p:nvPr/>
        </p:nvGrpSpPr>
        <p:grpSpPr>
          <a:xfrm>
            <a:off x="1060935" y="4262589"/>
            <a:ext cx="10070130" cy="2046219"/>
            <a:chOff x="348415" y="4397071"/>
            <a:chExt cx="10070130" cy="2046219"/>
          </a:xfrm>
        </p:grpSpPr>
        <p:pic>
          <p:nvPicPr>
            <p:cNvPr id="7" name="Picture 6" descr="A close-up of a sign&#10;&#10;Description automatically generated">
              <a:extLst>
                <a:ext uri="{FF2B5EF4-FFF2-40B4-BE49-F238E27FC236}">
                  <a16:creationId xmlns:a16="http://schemas.microsoft.com/office/drawing/2014/main" id="{A65ACC62-48EF-4124-49B3-C8BB7C6BA3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896"/>
            <a:stretch/>
          </p:blipFill>
          <p:spPr>
            <a:xfrm>
              <a:off x="348415" y="4397071"/>
              <a:ext cx="4265149" cy="2046219"/>
            </a:xfrm>
            <a:prstGeom prst="rect">
              <a:avLst/>
            </a:prstGeom>
          </p:spPr>
        </p:pic>
        <p:pic>
          <p:nvPicPr>
            <p:cNvPr id="9" name="Picture 8" descr="A close-up of a sign&#10;&#10;Description automatically generated">
              <a:extLst>
                <a:ext uri="{FF2B5EF4-FFF2-40B4-BE49-F238E27FC236}">
                  <a16:creationId xmlns:a16="http://schemas.microsoft.com/office/drawing/2014/main" id="{845C5968-41F2-D130-C0D1-DE070F080C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01"/>
            <a:stretch/>
          </p:blipFill>
          <p:spPr>
            <a:xfrm>
              <a:off x="4613564" y="4397071"/>
              <a:ext cx="5804981" cy="2046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611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478D-7C39-8FE9-C46B-FE680C15C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Final Cooling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CB96-5A9A-6830-AE4D-8A0494993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75136" cy="3867581"/>
          </a:xfrm>
        </p:spPr>
        <p:txBody>
          <a:bodyPr>
            <a:normAutofit fontScale="92500"/>
          </a:bodyPr>
          <a:lstStyle/>
          <a:p>
            <a:r>
              <a:rPr lang="en-US" dirty="0"/>
              <a:t>Cooling occurs in several stages</a:t>
            </a:r>
          </a:p>
          <a:p>
            <a:r>
              <a:rPr lang="en-US" dirty="0"/>
              <a:t>Initial stages reduce emittance in all axes (6D cooling)</a:t>
            </a:r>
          </a:p>
          <a:p>
            <a:r>
              <a:rPr lang="en-US" dirty="0"/>
              <a:t>Final cooling reduces transverse emittance, longitudinal emittance allowed to grow (4D cooling)</a:t>
            </a:r>
          </a:p>
          <a:p>
            <a:r>
              <a:rPr lang="en-US" dirty="0"/>
              <a:t>Target emittance around 30 </a:t>
            </a:r>
            <a:r>
              <a:rPr lang="el-GR" dirty="0"/>
              <a:t>μ</a:t>
            </a:r>
            <a:r>
              <a:rPr lang="en-US" dirty="0"/>
              <a:t>m transverse, 100 mm longitudinal</a:t>
            </a:r>
          </a:p>
          <a:p>
            <a:r>
              <a:rPr lang="en-US" dirty="0"/>
              <a:t>I am studying this final cooling stage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C02264-5CA3-D09D-33CA-5CB79CA737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6340" y="1189448"/>
            <a:ext cx="5376131" cy="4503758"/>
            <a:chOff x="8293539" y="1263650"/>
            <a:chExt cx="3550966" cy="2974759"/>
          </a:xfrm>
        </p:grpSpPr>
        <p:pic>
          <p:nvPicPr>
            <p:cNvPr id="9" name="emittancePath_RedX.pdf" descr="emittancePath_RedX.pdf">
              <a:extLst>
                <a:ext uri="{FF2B5EF4-FFF2-40B4-BE49-F238E27FC236}">
                  <a16:creationId xmlns:a16="http://schemas.microsoft.com/office/drawing/2014/main" id="{C6929648-435F-A2D5-0CE6-2CF64A5C7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293539" y="1263650"/>
              <a:ext cx="3550966" cy="29747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EB428B-308C-73CD-7471-708AFD4B4C90}"/>
                </a:ext>
              </a:extLst>
            </p:cNvPr>
            <p:cNvSpPr/>
            <p:nvPr/>
          </p:nvSpPr>
          <p:spPr>
            <a:xfrm>
              <a:off x="9407525" y="1893253"/>
              <a:ext cx="212725" cy="253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4225D65-051D-96D6-53AE-709D8BF6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4BB0749-7F80-BDE0-D89C-B41C4AD7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41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C3BD3-D0D7-E900-42E1-ACB8E992A853}"/>
              </a:ext>
            </a:extLst>
          </p:cNvPr>
          <p:cNvSpPr/>
          <p:nvPr/>
        </p:nvSpPr>
        <p:spPr>
          <a:xfrm>
            <a:off x="7528956" y="4132613"/>
            <a:ext cx="1478478" cy="742208"/>
          </a:xfrm>
          <a:prstGeom prst="rect">
            <a:avLst/>
          </a:prstGeom>
          <a:solidFill>
            <a:srgbClr val="FFFF00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574DF-DF2D-56F8-84E8-C8ABD965E137}"/>
              </a:ext>
            </a:extLst>
          </p:cNvPr>
          <p:cNvSpPr txBox="1"/>
          <p:nvPr/>
        </p:nvSpPr>
        <p:spPr>
          <a:xfrm>
            <a:off x="8815261" y="5774913"/>
            <a:ext cx="1407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Fermilab</a:t>
            </a:r>
          </a:p>
        </p:txBody>
      </p:sp>
    </p:spTree>
    <p:extLst>
      <p:ext uri="{BB962C8B-B14F-4D97-AF65-F5344CB8AC3E}">
        <p14:creationId xmlns:p14="http://schemas.microsoft.com/office/powerpoint/2010/main" val="2552756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5DBA-04D7-C079-DE8F-DF11EBE4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Solenoid</a:t>
            </a:r>
          </a:p>
        </p:txBody>
      </p:sp>
      <p:pic>
        <p:nvPicPr>
          <p:cNvPr id="8" name="Content Placeholder 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6C0D7249-8BC7-91B6-90F8-3C66A2992C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8654"/>
            <a:ext cx="5181600" cy="4145280"/>
          </a:xfrm>
        </p:spPr>
      </p:pic>
      <p:pic>
        <p:nvPicPr>
          <p:cNvPr id="10" name="Content Placeholder 9" descr="A graph of a graph of a number of different sizes&#10;&#10;AI-generated content may be incorrect.">
            <a:extLst>
              <a:ext uri="{FF2B5EF4-FFF2-40B4-BE49-F238E27FC236}">
                <a16:creationId xmlns:a16="http://schemas.microsoft.com/office/drawing/2014/main" id="{C0FB003E-C11C-974D-9B8D-293C905895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28654"/>
            <a:ext cx="5181600" cy="414528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7A518-BD72-0C10-6554-BC2EA1D0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8E1EC-BB81-2AED-AFD0-20026ACB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8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6923-1852-807B-77F2-761C83E9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What is a Muon Collider?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042C-4846-6B26-F59D-DF3B23E6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32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Current particle accelerators use protons or electrons</a:t>
            </a:r>
          </a:p>
          <a:p>
            <a:pPr lvl="1"/>
            <a:r>
              <a:rPr lang="en-US" dirty="0"/>
              <a:t>Electrons lose energy to radiation – harder to reach high energy</a:t>
            </a:r>
          </a:p>
          <a:p>
            <a:pPr lvl="1"/>
            <a:r>
              <a:rPr lang="en-US" dirty="0"/>
              <a:t>Protons are composite particles – collisions inefficient and complex</a:t>
            </a:r>
          </a:p>
          <a:p>
            <a:r>
              <a:rPr lang="en-US" dirty="0"/>
              <a:t>Muons are high mass, elementary particles – best of both worlds</a:t>
            </a:r>
          </a:p>
          <a:p>
            <a:r>
              <a:rPr lang="en-US" dirty="0"/>
              <a:t>Potential to reach new energy scale (10+ TeV) with smaller footprint and lower cost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0C8DA-A361-6420-86D1-7DAF6AD8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6E2B4-FDAD-91A4-2BED-6056A6C5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43</a:t>
            </a:fld>
            <a:endParaRPr lang="en-US" dirty="0"/>
          </a:p>
        </p:txBody>
      </p:sp>
      <p:pic>
        <p:nvPicPr>
          <p:cNvPr id="7" name="Picture 6" descr="A map of a city&#10;&#10;Description automatically generated">
            <a:extLst>
              <a:ext uri="{FF2B5EF4-FFF2-40B4-BE49-F238E27FC236}">
                <a16:creationId xmlns:a16="http://schemas.microsoft.com/office/drawing/2014/main" id="{5D20EC50-A563-4FE1-47EF-71B61ACB04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0"/>
          <a:stretch/>
        </p:blipFill>
        <p:spPr>
          <a:xfrm>
            <a:off x="6531429" y="1825625"/>
            <a:ext cx="5327273" cy="3806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A05AA6-2F40-1026-71A0-3D7B08A2CC28}"/>
              </a:ext>
            </a:extLst>
          </p:cNvPr>
          <p:cNvSpPr txBox="1"/>
          <p:nvPr/>
        </p:nvSpPr>
        <p:spPr>
          <a:xfrm>
            <a:off x="8491411" y="5632075"/>
            <a:ext cx="1407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Fermilab</a:t>
            </a:r>
          </a:p>
        </p:txBody>
      </p:sp>
    </p:spTree>
    <p:extLst>
      <p:ext uri="{BB962C8B-B14F-4D97-AF65-F5344CB8AC3E}">
        <p14:creationId xmlns:p14="http://schemas.microsoft.com/office/powerpoint/2010/main" val="24976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7395</TotalTime>
  <Words>1611</Words>
  <Application>Microsoft Office PowerPoint</Application>
  <PresentationFormat>Widescreen</PresentationFormat>
  <Paragraphs>291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Wingdings</vt:lpstr>
      <vt:lpstr>Office Theme</vt:lpstr>
      <vt:lpstr>Final Cooling with Thick Wedges for a Muon Collider</vt:lpstr>
      <vt:lpstr>What is a Muon Collider?</vt:lpstr>
      <vt:lpstr>What is a Muon Collider?</vt:lpstr>
      <vt:lpstr>Muon production</vt:lpstr>
      <vt:lpstr>Emittance and Cooling</vt:lpstr>
      <vt:lpstr>Background: Courant–Snyder parameters</vt:lpstr>
      <vt:lpstr>Ionization Cooling</vt:lpstr>
      <vt:lpstr>Problems with Ionization Cooling</vt:lpstr>
      <vt:lpstr>Problems with Ionization Cooling</vt:lpstr>
      <vt:lpstr>Final Cooling with Thick Wedges</vt:lpstr>
      <vt:lpstr>Final Cooling with Thick Wedges</vt:lpstr>
      <vt:lpstr>Wedge Cooling Mechanism</vt:lpstr>
      <vt:lpstr>Wedge Cooling Mechanism</vt:lpstr>
      <vt:lpstr>Phase Rotation</vt:lpstr>
      <vt:lpstr>Phase Rotation</vt:lpstr>
      <vt:lpstr>Prior work</vt:lpstr>
      <vt:lpstr>Prior work</vt:lpstr>
      <vt:lpstr>Results: Wedge</vt:lpstr>
      <vt:lpstr>Results: Wedge</vt:lpstr>
      <vt:lpstr>Results: Drift Channel</vt:lpstr>
      <vt:lpstr>Differences between MAD-X and G4Beamline</vt:lpstr>
      <vt:lpstr>Drift channel in G4Beamline</vt:lpstr>
      <vt:lpstr>FODO cell edges</vt:lpstr>
      <vt:lpstr>Optimizing Magnet Gradients</vt:lpstr>
      <vt:lpstr>Optimizing Magnet Gradients</vt:lpstr>
      <vt:lpstr>Entire drift channel</vt:lpstr>
      <vt:lpstr>Entire drift channel</vt:lpstr>
      <vt:lpstr>Conclusions</vt:lpstr>
      <vt:lpstr>Next Steps</vt:lpstr>
      <vt:lpstr>Acknowledgements</vt:lpstr>
      <vt:lpstr>Backup slides</vt:lpstr>
      <vt:lpstr>Baseline Graphs</vt:lpstr>
      <vt:lpstr>Wedge Cooling Mechanism</vt:lpstr>
      <vt:lpstr>Initial work on solenoids</vt:lpstr>
      <vt:lpstr>Effect of momentum spread</vt:lpstr>
      <vt:lpstr>Effect of momentum</vt:lpstr>
      <vt:lpstr>Entire drift channel</vt:lpstr>
      <vt:lpstr>Simulation and Optimization</vt:lpstr>
      <vt:lpstr>Caveats and Assumptions</vt:lpstr>
      <vt:lpstr>Summer 2023 Results</vt:lpstr>
      <vt:lpstr>Final Cooling</vt:lpstr>
      <vt:lpstr>Solenoid</vt:lpstr>
      <vt:lpstr>What is a Muon Collider?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Cooling with Thick Wedges for a Muon Collider</dc:title>
  <dc:creator>Daniel Fu</dc:creator>
  <cp:lastModifiedBy>Daniel Fu</cp:lastModifiedBy>
  <cp:revision>22</cp:revision>
  <dcterms:created xsi:type="dcterms:W3CDTF">2024-03-27T01:50:40Z</dcterms:created>
  <dcterms:modified xsi:type="dcterms:W3CDTF">2025-05-20T01:30:14Z</dcterms:modified>
</cp:coreProperties>
</file>